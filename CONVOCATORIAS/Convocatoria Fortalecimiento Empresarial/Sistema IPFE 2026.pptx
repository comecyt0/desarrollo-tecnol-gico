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8" r:id="rId4"/>
    <p:sldId id="258" r:id="rId5"/>
    <p:sldId id="259" r:id="rId6"/>
    <p:sldId id="260" r:id="rId7"/>
    <p:sldId id="261" r:id="rId8"/>
    <p:sldId id="264" r:id="rId9"/>
    <p:sldId id="267" r:id="rId10"/>
    <p:sldId id="266" r:id="rId11"/>
    <p:sldId id="269" r:id="rId12"/>
    <p:sldId id="265" r:id="rId13"/>
    <p:sldId id="262" r:id="rId14"/>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Estilo claro 1 - Acento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6" autoAdjust="0"/>
    <p:restoredTop sz="94660"/>
  </p:normalViewPr>
  <p:slideViewPr>
    <p:cSldViewPr snapToGrid="0">
      <p:cViewPr varScale="1">
        <p:scale>
          <a:sx n="74" d="100"/>
          <a:sy n="74" d="100"/>
        </p:scale>
        <p:origin x="84" y="5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7B3533-A387-3747-5611-9F8315B68FE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D3843E06-06FE-C2E4-9148-3CFD69074B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C0BF58CF-F4D2-C42C-BBCA-CD11CA35C96A}"/>
              </a:ext>
            </a:extLst>
          </p:cNvPr>
          <p:cNvSpPr>
            <a:spLocks noGrp="1"/>
          </p:cNvSpPr>
          <p:nvPr>
            <p:ph type="dt" sz="half" idx="10"/>
          </p:nvPr>
        </p:nvSpPr>
        <p:spPr/>
        <p:txBody>
          <a:bodyPr/>
          <a:lstStyle/>
          <a:p>
            <a:fld id="{93CA486D-C98B-431E-AA97-83287F0A0217}" type="datetimeFigureOut">
              <a:rPr lang="es-MX" smtClean="0"/>
              <a:t>26/03/2026</a:t>
            </a:fld>
            <a:endParaRPr lang="es-MX"/>
          </a:p>
        </p:txBody>
      </p:sp>
      <p:sp>
        <p:nvSpPr>
          <p:cNvPr id="5" name="Marcador de pie de página 4">
            <a:extLst>
              <a:ext uri="{FF2B5EF4-FFF2-40B4-BE49-F238E27FC236}">
                <a16:creationId xmlns:a16="http://schemas.microsoft.com/office/drawing/2014/main" id="{3665BDE0-A0BD-B452-FE7E-3E960B996C7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280C73C-D0DF-4AF0-78BD-4251D8D6234F}"/>
              </a:ext>
            </a:extLst>
          </p:cNvPr>
          <p:cNvSpPr>
            <a:spLocks noGrp="1"/>
          </p:cNvSpPr>
          <p:nvPr>
            <p:ph type="sldNum" sz="quarter" idx="12"/>
          </p:nvPr>
        </p:nvSpPr>
        <p:spPr/>
        <p:txBody>
          <a:bodyPr/>
          <a:lstStyle/>
          <a:p>
            <a:fld id="{8D8D6185-8F98-4AD7-A07C-D7EC9687BC2F}" type="slidenum">
              <a:rPr lang="es-MX" smtClean="0"/>
              <a:t>‹Nº›</a:t>
            </a:fld>
            <a:endParaRPr lang="es-MX"/>
          </a:p>
        </p:txBody>
      </p:sp>
    </p:spTree>
    <p:extLst>
      <p:ext uri="{BB962C8B-B14F-4D97-AF65-F5344CB8AC3E}">
        <p14:creationId xmlns:p14="http://schemas.microsoft.com/office/powerpoint/2010/main" val="3796041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651560-B2CF-95F3-7ABE-580533B603C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AAD28355-592D-9828-FEF5-FBE958E0E0A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C0357194-5725-BDBC-ED34-47CCC4AD2D39}"/>
              </a:ext>
            </a:extLst>
          </p:cNvPr>
          <p:cNvSpPr>
            <a:spLocks noGrp="1"/>
          </p:cNvSpPr>
          <p:nvPr>
            <p:ph type="dt" sz="half" idx="10"/>
          </p:nvPr>
        </p:nvSpPr>
        <p:spPr/>
        <p:txBody>
          <a:bodyPr/>
          <a:lstStyle/>
          <a:p>
            <a:fld id="{93CA486D-C98B-431E-AA97-83287F0A0217}" type="datetimeFigureOut">
              <a:rPr lang="es-MX" smtClean="0"/>
              <a:t>26/03/2026</a:t>
            </a:fld>
            <a:endParaRPr lang="es-MX"/>
          </a:p>
        </p:txBody>
      </p:sp>
      <p:sp>
        <p:nvSpPr>
          <p:cNvPr id="5" name="Marcador de pie de página 4">
            <a:extLst>
              <a:ext uri="{FF2B5EF4-FFF2-40B4-BE49-F238E27FC236}">
                <a16:creationId xmlns:a16="http://schemas.microsoft.com/office/drawing/2014/main" id="{2C8E8AAD-6577-914F-7DA5-3A584143671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344846B-13A7-EA36-B6D3-9544FD9BD457}"/>
              </a:ext>
            </a:extLst>
          </p:cNvPr>
          <p:cNvSpPr>
            <a:spLocks noGrp="1"/>
          </p:cNvSpPr>
          <p:nvPr>
            <p:ph type="sldNum" sz="quarter" idx="12"/>
          </p:nvPr>
        </p:nvSpPr>
        <p:spPr/>
        <p:txBody>
          <a:bodyPr/>
          <a:lstStyle/>
          <a:p>
            <a:fld id="{8D8D6185-8F98-4AD7-A07C-D7EC9687BC2F}" type="slidenum">
              <a:rPr lang="es-MX" smtClean="0"/>
              <a:t>‹Nº›</a:t>
            </a:fld>
            <a:endParaRPr lang="es-MX"/>
          </a:p>
        </p:txBody>
      </p:sp>
    </p:spTree>
    <p:extLst>
      <p:ext uri="{BB962C8B-B14F-4D97-AF65-F5344CB8AC3E}">
        <p14:creationId xmlns:p14="http://schemas.microsoft.com/office/powerpoint/2010/main" val="663470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0E2690-986C-8944-8671-FA325F2E2A6D}"/>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B59A5D93-5E2A-6A66-0A3B-684784690B2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39E827A-EBF0-8A1C-A636-62BDA042ED04}"/>
              </a:ext>
            </a:extLst>
          </p:cNvPr>
          <p:cNvSpPr>
            <a:spLocks noGrp="1"/>
          </p:cNvSpPr>
          <p:nvPr>
            <p:ph type="dt" sz="half" idx="10"/>
          </p:nvPr>
        </p:nvSpPr>
        <p:spPr/>
        <p:txBody>
          <a:bodyPr/>
          <a:lstStyle/>
          <a:p>
            <a:fld id="{93CA486D-C98B-431E-AA97-83287F0A0217}" type="datetimeFigureOut">
              <a:rPr lang="es-MX" smtClean="0"/>
              <a:t>26/03/2026</a:t>
            </a:fld>
            <a:endParaRPr lang="es-MX"/>
          </a:p>
        </p:txBody>
      </p:sp>
      <p:sp>
        <p:nvSpPr>
          <p:cNvPr id="5" name="Marcador de pie de página 4">
            <a:extLst>
              <a:ext uri="{FF2B5EF4-FFF2-40B4-BE49-F238E27FC236}">
                <a16:creationId xmlns:a16="http://schemas.microsoft.com/office/drawing/2014/main" id="{A4E9DC05-1A72-CC6B-AD59-EA7516A7984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282FA87-7F64-87B7-863C-D6D818D59AB0}"/>
              </a:ext>
            </a:extLst>
          </p:cNvPr>
          <p:cNvSpPr>
            <a:spLocks noGrp="1"/>
          </p:cNvSpPr>
          <p:nvPr>
            <p:ph type="sldNum" sz="quarter" idx="12"/>
          </p:nvPr>
        </p:nvSpPr>
        <p:spPr/>
        <p:txBody>
          <a:bodyPr/>
          <a:lstStyle/>
          <a:p>
            <a:fld id="{8D8D6185-8F98-4AD7-A07C-D7EC9687BC2F}" type="slidenum">
              <a:rPr lang="es-MX" smtClean="0"/>
              <a:t>‹Nº›</a:t>
            </a:fld>
            <a:endParaRPr lang="es-MX"/>
          </a:p>
        </p:txBody>
      </p:sp>
    </p:spTree>
    <p:extLst>
      <p:ext uri="{BB962C8B-B14F-4D97-AF65-F5344CB8AC3E}">
        <p14:creationId xmlns:p14="http://schemas.microsoft.com/office/powerpoint/2010/main" val="28190938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DC3C3F-40DB-9676-7D8D-217CF267DCC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F7AA12A-AE08-312F-4B86-04AF48FACF16}"/>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EE755FA9-B232-581F-7396-833E36565815}"/>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58C3C9F5-0399-90DE-53A8-11A05D1DDE48}"/>
              </a:ext>
            </a:extLst>
          </p:cNvPr>
          <p:cNvSpPr>
            <a:spLocks noGrp="1"/>
          </p:cNvSpPr>
          <p:nvPr>
            <p:ph type="dt" sz="half" idx="10"/>
          </p:nvPr>
        </p:nvSpPr>
        <p:spPr/>
        <p:txBody>
          <a:bodyPr/>
          <a:lstStyle/>
          <a:p>
            <a:fld id="{93CA486D-C98B-431E-AA97-83287F0A0217}" type="datetimeFigureOut">
              <a:rPr lang="es-MX" smtClean="0"/>
              <a:t>26/03/2026</a:t>
            </a:fld>
            <a:endParaRPr lang="es-MX"/>
          </a:p>
        </p:txBody>
      </p:sp>
      <p:sp>
        <p:nvSpPr>
          <p:cNvPr id="6" name="Marcador de pie de página 5">
            <a:extLst>
              <a:ext uri="{FF2B5EF4-FFF2-40B4-BE49-F238E27FC236}">
                <a16:creationId xmlns:a16="http://schemas.microsoft.com/office/drawing/2014/main" id="{B0F1244B-BFA7-2D91-CFA1-166265BFB370}"/>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53F5B649-A5E2-5AA9-A5F9-09B997E48492}"/>
              </a:ext>
            </a:extLst>
          </p:cNvPr>
          <p:cNvSpPr>
            <a:spLocks noGrp="1"/>
          </p:cNvSpPr>
          <p:nvPr>
            <p:ph type="sldNum" sz="quarter" idx="12"/>
          </p:nvPr>
        </p:nvSpPr>
        <p:spPr/>
        <p:txBody>
          <a:bodyPr/>
          <a:lstStyle/>
          <a:p>
            <a:fld id="{8D8D6185-8F98-4AD7-A07C-D7EC9687BC2F}" type="slidenum">
              <a:rPr lang="es-MX" smtClean="0"/>
              <a:t>‹Nº›</a:t>
            </a:fld>
            <a:endParaRPr lang="es-MX"/>
          </a:p>
        </p:txBody>
      </p:sp>
    </p:spTree>
    <p:extLst>
      <p:ext uri="{BB962C8B-B14F-4D97-AF65-F5344CB8AC3E}">
        <p14:creationId xmlns:p14="http://schemas.microsoft.com/office/powerpoint/2010/main" val="4232306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A6AE93-E943-1500-8926-D7B4FFC27BA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6736D29-937B-D190-ADB1-1025CFCF5C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68152D23-76BA-7BDB-063F-C5C6C966E4E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14E14B2C-C860-A002-E787-68384855CF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B54BC64-0EE9-738A-8624-77B5060A288D}"/>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68562BBB-F1EA-AEB5-E5D7-CB99607A440A}"/>
              </a:ext>
            </a:extLst>
          </p:cNvPr>
          <p:cNvSpPr>
            <a:spLocks noGrp="1"/>
          </p:cNvSpPr>
          <p:nvPr>
            <p:ph type="dt" sz="half" idx="10"/>
          </p:nvPr>
        </p:nvSpPr>
        <p:spPr/>
        <p:txBody>
          <a:bodyPr/>
          <a:lstStyle/>
          <a:p>
            <a:fld id="{93CA486D-C98B-431E-AA97-83287F0A0217}" type="datetimeFigureOut">
              <a:rPr lang="es-MX" smtClean="0"/>
              <a:t>26/03/2026</a:t>
            </a:fld>
            <a:endParaRPr lang="es-MX"/>
          </a:p>
        </p:txBody>
      </p:sp>
      <p:sp>
        <p:nvSpPr>
          <p:cNvPr id="8" name="Marcador de pie de página 7">
            <a:extLst>
              <a:ext uri="{FF2B5EF4-FFF2-40B4-BE49-F238E27FC236}">
                <a16:creationId xmlns:a16="http://schemas.microsoft.com/office/drawing/2014/main" id="{B15F1821-4BFB-FD09-00F1-4AB7DD3989ED}"/>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6F91E41D-6765-1497-2E80-630E8F61A6B1}"/>
              </a:ext>
            </a:extLst>
          </p:cNvPr>
          <p:cNvSpPr>
            <a:spLocks noGrp="1"/>
          </p:cNvSpPr>
          <p:nvPr>
            <p:ph type="sldNum" sz="quarter" idx="12"/>
          </p:nvPr>
        </p:nvSpPr>
        <p:spPr/>
        <p:txBody>
          <a:bodyPr/>
          <a:lstStyle/>
          <a:p>
            <a:fld id="{8D8D6185-8F98-4AD7-A07C-D7EC9687BC2F}" type="slidenum">
              <a:rPr lang="es-MX" smtClean="0"/>
              <a:t>‹Nº›</a:t>
            </a:fld>
            <a:endParaRPr lang="es-MX"/>
          </a:p>
        </p:txBody>
      </p:sp>
    </p:spTree>
    <p:extLst>
      <p:ext uri="{BB962C8B-B14F-4D97-AF65-F5344CB8AC3E}">
        <p14:creationId xmlns:p14="http://schemas.microsoft.com/office/powerpoint/2010/main" val="971522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6068E7-86A2-02E6-EEDE-BB87C6E8C8C4}"/>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3BAD1085-AD0F-CFC5-8394-D0E1B53FD327}"/>
              </a:ext>
            </a:extLst>
          </p:cNvPr>
          <p:cNvSpPr>
            <a:spLocks noGrp="1"/>
          </p:cNvSpPr>
          <p:nvPr>
            <p:ph type="dt" sz="half" idx="10"/>
          </p:nvPr>
        </p:nvSpPr>
        <p:spPr/>
        <p:txBody>
          <a:bodyPr/>
          <a:lstStyle/>
          <a:p>
            <a:fld id="{93CA486D-C98B-431E-AA97-83287F0A0217}" type="datetimeFigureOut">
              <a:rPr lang="es-MX" smtClean="0"/>
              <a:t>26/03/2026</a:t>
            </a:fld>
            <a:endParaRPr lang="es-MX"/>
          </a:p>
        </p:txBody>
      </p:sp>
      <p:sp>
        <p:nvSpPr>
          <p:cNvPr id="4" name="Marcador de pie de página 3">
            <a:extLst>
              <a:ext uri="{FF2B5EF4-FFF2-40B4-BE49-F238E27FC236}">
                <a16:creationId xmlns:a16="http://schemas.microsoft.com/office/drawing/2014/main" id="{66DB74D2-7F20-CEA6-01F0-01A78CDD7F56}"/>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AADBE937-4DF3-D767-E743-AAEB505F8D92}"/>
              </a:ext>
            </a:extLst>
          </p:cNvPr>
          <p:cNvSpPr>
            <a:spLocks noGrp="1"/>
          </p:cNvSpPr>
          <p:nvPr>
            <p:ph type="sldNum" sz="quarter" idx="12"/>
          </p:nvPr>
        </p:nvSpPr>
        <p:spPr/>
        <p:txBody>
          <a:bodyPr/>
          <a:lstStyle/>
          <a:p>
            <a:fld id="{8D8D6185-8F98-4AD7-A07C-D7EC9687BC2F}" type="slidenum">
              <a:rPr lang="es-MX" smtClean="0"/>
              <a:t>‹Nº›</a:t>
            </a:fld>
            <a:endParaRPr lang="es-MX"/>
          </a:p>
        </p:txBody>
      </p:sp>
    </p:spTree>
    <p:extLst>
      <p:ext uri="{BB962C8B-B14F-4D97-AF65-F5344CB8AC3E}">
        <p14:creationId xmlns:p14="http://schemas.microsoft.com/office/powerpoint/2010/main" val="33835009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8F75181-892C-08E6-6379-DDCBAEA83E16}"/>
              </a:ext>
            </a:extLst>
          </p:cNvPr>
          <p:cNvSpPr>
            <a:spLocks noGrp="1"/>
          </p:cNvSpPr>
          <p:nvPr>
            <p:ph type="dt" sz="half" idx="10"/>
          </p:nvPr>
        </p:nvSpPr>
        <p:spPr/>
        <p:txBody>
          <a:bodyPr/>
          <a:lstStyle/>
          <a:p>
            <a:fld id="{93CA486D-C98B-431E-AA97-83287F0A0217}" type="datetimeFigureOut">
              <a:rPr lang="es-MX" smtClean="0"/>
              <a:t>26/03/2026</a:t>
            </a:fld>
            <a:endParaRPr lang="es-MX"/>
          </a:p>
        </p:txBody>
      </p:sp>
      <p:sp>
        <p:nvSpPr>
          <p:cNvPr id="3" name="Marcador de pie de página 2">
            <a:extLst>
              <a:ext uri="{FF2B5EF4-FFF2-40B4-BE49-F238E27FC236}">
                <a16:creationId xmlns:a16="http://schemas.microsoft.com/office/drawing/2014/main" id="{0CBEC3A5-9FCB-BD23-C77F-BD374332BA7F}"/>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8F5D1EAE-ACBB-EF57-E2CF-B6C40EACA4F8}"/>
              </a:ext>
            </a:extLst>
          </p:cNvPr>
          <p:cNvSpPr>
            <a:spLocks noGrp="1"/>
          </p:cNvSpPr>
          <p:nvPr>
            <p:ph type="sldNum" sz="quarter" idx="12"/>
          </p:nvPr>
        </p:nvSpPr>
        <p:spPr/>
        <p:txBody>
          <a:bodyPr/>
          <a:lstStyle/>
          <a:p>
            <a:fld id="{8D8D6185-8F98-4AD7-A07C-D7EC9687BC2F}" type="slidenum">
              <a:rPr lang="es-MX" smtClean="0"/>
              <a:t>‹Nº›</a:t>
            </a:fld>
            <a:endParaRPr lang="es-MX"/>
          </a:p>
        </p:txBody>
      </p:sp>
    </p:spTree>
    <p:extLst>
      <p:ext uri="{BB962C8B-B14F-4D97-AF65-F5344CB8AC3E}">
        <p14:creationId xmlns:p14="http://schemas.microsoft.com/office/powerpoint/2010/main" val="2556296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237691-7FAE-1C3D-95C7-5FAC3BC9297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940B3D49-0AE0-2533-96AB-189F23EBEE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40985EF6-8B0F-E8F7-1D53-934F02CEA8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24AFED6-1C3C-BCEA-A678-72ABAD3DE318}"/>
              </a:ext>
            </a:extLst>
          </p:cNvPr>
          <p:cNvSpPr>
            <a:spLocks noGrp="1"/>
          </p:cNvSpPr>
          <p:nvPr>
            <p:ph type="dt" sz="half" idx="10"/>
          </p:nvPr>
        </p:nvSpPr>
        <p:spPr/>
        <p:txBody>
          <a:bodyPr/>
          <a:lstStyle/>
          <a:p>
            <a:fld id="{93CA486D-C98B-431E-AA97-83287F0A0217}" type="datetimeFigureOut">
              <a:rPr lang="es-MX" smtClean="0"/>
              <a:t>26/03/2026</a:t>
            </a:fld>
            <a:endParaRPr lang="es-MX"/>
          </a:p>
        </p:txBody>
      </p:sp>
      <p:sp>
        <p:nvSpPr>
          <p:cNvPr id="6" name="Marcador de pie de página 5">
            <a:extLst>
              <a:ext uri="{FF2B5EF4-FFF2-40B4-BE49-F238E27FC236}">
                <a16:creationId xmlns:a16="http://schemas.microsoft.com/office/drawing/2014/main" id="{868B95A5-E6F5-0F4A-8CE8-5BA3E5077484}"/>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0CCB7D5-276D-AB36-4184-3EB8221C45A1}"/>
              </a:ext>
            </a:extLst>
          </p:cNvPr>
          <p:cNvSpPr>
            <a:spLocks noGrp="1"/>
          </p:cNvSpPr>
          <p:nvPr>
            <p:ph type="sldNum" sz="quarter" idx="12"/>
          </p:nvPr>
        </p:nvSpPr>
        <p:spPr/>
        <p:txBody>
          <a:bodyPr/>
          <a:lstStyle/>
          <a:p>
            <a:fld id="{8D8D6185-8F98-4AD7-A07C-D7EC9687BC2F}" type="slidenum">
              <a:rPr lang="es-MX" smtClean="0"/>
              <a:t>‹Nº›</a:t>
            </a:fld>
            <a:endParaRPr lang="es-MX"/>
          </a:p>
        </p:txBody>
      </p:sp>
    </p:spTree>
    <p:extLst>
      <p:ext uri="{BB962C8B-B14F-4D97-AF65-F5344CB8AC3E}">
        <p14:creationId xmlns:p14="http://schemas.microsoft.com/office/powerpoint/2010/main" val="21255776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AE6707-C317-517C-E2C3-3EB7DED6D2B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24CEE203-D241-67B1-94D5-46C9834967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F8FF0EF0-570E-A5C3-31A4-28E9F09DC2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FCF876B-43FD-B74F-67FD-5FCCA799AEE7}"/>
              </a:ext>
            </a:extLst>
          </p:cNvPr>
          <p:cNvSpPr>
            <a:spLocks noGrp="1"/>
          </p:cNvSpPr>
          <p:nvPr>
            <p:ph type="dt" sz="half" idx="10"/>
          </p:nvPr>
        </p:nvSpPr>
        <p:spPr/>
        <p:txBody>
          <a:bodyPr/>
          <a:lstStyle/>
          <a:p>
            <a:fld id="{93CA486D-C98B-431E-AA97-83287F0A0217}" type="datetimeFigureOut">
              <a:rPr lang="es-MX" smtClean="0"/>
              <a:t>26/03/2026</a:t>
            </a:fld>
            <a:endParaRPr lang="es-MX"/>
          </a:p>
        </p:txBody>
      </p:sp>
      <p:sp>
        <p:nvSpPr>
          <p:cNvPr id="6" name="Marcador de pie de página 5">
            <a:extLst>
              <a:ext uri="{FF2B5EF4-FFF2-40B4-BE49-F238E27FC236}">
                <a16:creationId xmlns:a16="http://schemas.microsoft.com/office/drawing/2014/main" id="{D5AD958E-A0A9-B657-563A-7E270E267E3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2794CA00-85A1-75C2-0C83-3170412AE9E5}"/>
              </a:ext>
            </a:extLst>
          </p:cNvPr>
          <p:cNvSpPr>
            <a:spLocks noGrp="1"/>
          </p:cNvSpPr>
          <p:nvPr>
            <p:ph type="sldNum" sz="quarter" idx="12"/>
          </p:nvPr>
        </p:nvSpPr>
        <p:spPr/>
        <p:txBody>
          <a:bodyPr/>
          <a:lstStyle/>
          <a:p>
            <a:fld id="{8D8D6185-8F98-4AD7-A07C-D7EC9687BC2F}" type="slidenum">
              <a:rPr lang="es-MX" smtClean="0"/>
              <a:t>‹Nº›</a:t>
            </a:fld>
            <a:endParaRPr lang="es-MX"/>
          </a:p>
        </p:txBody>
      </p:sp>
    </p:spTree>
    <p:extLst>
      <p:ext uri="{BB962C8B-B14F-4D97-AF65-F5344CB8AC3E}">
        <p14:creationId xmlns:p14="http://schemas.microsoft.com/office/powerpoint/2010/main" val="7274982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7531C0-2EB9-8095-B0B4-BC358AD092FD}"/>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AF6F16BA-61DD-7624-850F-C7CDF5D4A9FB}"/>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85DA66B-FBD2-6BFC-D5C5-B677A018EF68}"/>
              </a:ext>
            </a:extLst>
          </p:cNvPr>
          <p:cNvSpPr>
            <a:spLocks noGrp="1"/>
          </p:cNvSpPr>
          <p:nvPr>
            <p:ph type="dt" sz="half" idx="10"/>
          </p:nvPr>
        </p:nvSpPr>
        <p:spPr/>
        <p:txBody>
          <a:bodyPr/>
          <a:lstStyle/>
          <a:p>
            <a:fld id="{93CA486D-C98B-431E-AA97-83287F0A0217}" type="datetimeFigureOut">
              <a:rPr lang="es-MX" smtClean="0"/>
              <a:t>26/03/2026</a:t>
            </a:fld>
            <a:endParaRPr lang="es-MX"/>
          </a:p>
        </p:txBody>
      </p:sp>
      <p:sp>
        <p:nvSpPr>
          <p:cNvPr id="5" name="Marcador de pie de página 4">
            <a:extLst>
              <a:ext uri="{FF2B5EF4-FFF2-40B4-BE49-F238E27FC236}">
                <a16:creationId xmlns:a16="http://schemas.microsoft.com/office/drawing/2014/main" id="{BB5ED24D-C72C-1ED0-2F05-3D0D0B2B3C49}"/>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F069136-0D19-0AC5-D973-3AB38CE0D5F2}"/>
              </a:ext>
            </a:extLst>
          </p:cNvPr>
          <p:cNvSpPr>
            <a:spLocks noGrp="1"/>
          </p:cNvSpPr>
          <p:nvPr>
            <p:ph type="sldNum" sz="quarter" idx="12"/>
          </p:nvPr>
        </p:nvSpPr>
        <p:spPr/>
        <p:txBody>
          <a:bodyPr/>
          <a:lstStyle/>
          <a:p>
            <a:fld id="{8D8D6185-8F98-4AD7-A07C-D7EC9687BC2F}" type="slidenum">
              <a:rPr lang="es-MX" smtClean="0"/>
              <a:t>‹Nº›</a:t>
            </a:fld>
            <a:endParaRPr lang="es-MX"/>
          </a:p>
        </p:txBody>
      </p:sp>
    </p:spTree>
    <p:extLst>
      <p:ext uri="{BB962C8B-B14F-4D97-AF65-F5344CB8AC3E}">
        <p14:creationId xmlns:p14="http://schemas.microsoft.com/office/powerpoint/2010/main" val="36199247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808B33F-B19B-114A-BB54-895E43669B0C}"/>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99E7B9BE-03E9-0154-C7AE-0FA87470488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289C4186-1704-8D43-AD39-C1A4E9ABF2F4}"/>
              </a:ext>
            </a:extLst>
          </p:cNvPr>
          <p:cNvSpPr>
            <a:spLocks noGrp="1"/>
          </p:cNvSpPr>
          <p:nvPr>
            <p:ph type="dt" sz="half" idx="10"/>
          </p:nvPr>
        </p:nvSpPr>
        <p:spPr/>
        <p:txBody>
          <a:bodyPr/>
          <a:lstStyle/>
          <a:p>
            <a:fld id="{93CA486D-C98B-431E-AA97-83287F0A0217}" type="datetimeFigureOut">
              <a:rPr lang="es-MX" smtClean="0"/>
              <a:t>26/03/2026</a:t>
            </a:fld>
            <a:endParaRPr lang="es-MX"/>
          </a:p>
        </p:txBody>
      </p:sp>
      <p:sp>
        <p:nvSpPr>
          <p:cNvPr id="5" name="Marcador de pie de página 4">
            <a:extLst>
              <a:ext uri="{FF2B5EF4-FFF2-40B4-BE49-F238E27FC236}">
                <a16:creationId xmlns:a16="http://schemas.microsoft.com/office/drawing/2014/main" id="{66A997C2-C1E5-DBED-3DD0-9F893C9FB6B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41A8597B-569F-F7E1-277D-56947617ABF7}"/>
              </a:ext>
            </a:extLst>
          </p:cNvPr>
          <p:cNvSpPr>
            <a:spLocks noGrp="1"/>
          </p:cNvSpPr>
          <p:nvPr>
            <p:ph type="sldNum" sz="quarter" idx="12"/>
          </p:nvPr>
        </p:nvSpPr>
        <p:spPr/>
        <p:txBody>
          <a:bodyPr/>
          <a:lstStyle/>
          <a:p>
            <a:fld id="{8D8D6185-8F98-4AD7-A07C-D7EC9687BC2F}" type="slidenum">
              <a:rPr lang="es-MX" smtClean="0"/>
              <a:t>‹Nº›</a:t>
            </a:fld>
            <a:endParaRPr lang="es-MX"/>
          </a:p>
        </p:txBody>
      </p:sp>
    </p:spTree>
    <p:extLst>
      <p:ext uri="{BB962C8B-B14F-4D97-AF65-F5344CB8AC3E}">
        <p14:creationId xmlns:p14="http://schemas.microsoft.com/office/powerpoint/2010/main" val="3272492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D355417-3E66-212B-DC61-BFCDD84AF0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1D7A47E8-A832-9604-85CD-F2B39B7881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CAABA6E6-E283-AD01-666C-7D06688CCE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CA486D-C98B-431E-AA97-83287F0A0217}" type="datetimeFigureOut">
              <a:rPr lang="es-MX" smtClean="0"/>
              <a:t>26/03/2026</a:t>
            </a:fld>
            <a:endParaRPr lang="es-MX"/>
          </a:p>
        </p:txBody>
      </p:sp>
      <p:sp>
        <p:nvSpPr>
          <p:cNvPr id="5" name="Marcador de pie de página 4">
            <a:extLst>
              <a:ext uri="{FF2B5EF4-FFF2-40B4-BE49-F238E27FC236}">
                <a16:creationId xmlns:a16="http://schemas.microsoft.com/office/drawing/2014/main" id="{D9559D5F-2D71-1140-F4D3-42CF5832A9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3DFC3F03-8638-27A7-44EF-6BE43751A9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8D6185-8F98-4AD7-A07C-D7EC9687BC2F}" type="slidenum">
              <a:rPr lang="es-MX" smtClean="0"/>
              <a:t>‹Nº›</a:t>
            </a:fld>
            <a:endParaRPr lang="es-MX"/>
          </a:p>
        </p:txBody>
      </p:sp>
    </p:spTree>
    <p:extLst>
      <p:ext uri="{BB962C8B-B14F-4D97-AF65-F5344CB8AC3E}">
        <p14:creationId xmlns:p14="http://schemas.microsoft.com/office/powerpoint/2010/main" val="1508408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3.xml"/><Relationship Id="rId1" Type="http://schemas.openxmlformats.org/officeDocument/2006/relationships/slideLayout" Target="../slideLayouts/slideLayout7.xml"/><Relationship Id="rId5" Type="http://schemas.openxmlformats.org/officeDocument/2006/relationships/slide" Target="slide6.xml"/><Relationship Id="rId4" Type="http://schemas.openxmlformats.org/officeDocument/2006/relationships/slide" Target="slide5.xml"/></Relationships>
</file>

<file path=ppt/slides/_rels/slide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2.xml"/><Relationship Id="rId1" Type="http://schemas.openxmlformats.org/officeDocument/2006/relationships/slideLayout" Target="../slideLayouts/slideLayout7.xml"/><Relationship Id="rId4" Type="http://schemas.openxmlformats.org/officeDocument/2006/relationships/slide" Target="slide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 Target="slide11.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450499-7393-0E7E-3DB7-57CE1B3EA6EF}"/>
              </a:ext>
            </a:extLst>
          </p:cNvPr>
          <p:cNvSpPr>
            <a:spLocks noGrp="1"/>
          </p:cNvSpPr>
          <p:nvPr>
            <p:ph type="ctrTitle"/>
          </p:nvPr>
        </p:nvSpPr>
        <p:spPr>
          <a:xfrm>
            <a:off x="1524000" y="1109483"/>
            <a:ext cx="9144000" cy="4106460"/>
          </a:xfrm>
        </p:spPr>
        <p:txBody>
          <a:bodyPr>
            <a:normAutofit fontScale="90000"/>
          </a:bodyPr>
          <a:lstStyle/>
          <a:p>
            <a:pPr>
              <a:lnSpc>
                <a:spcPct val="150000"/>
              </a:lnSpc>
            </a:pPr>
            <a:r>
              <a:rPr lang="es-MX" sz="3600" b="1" dirty="0">
                <a:latin typeface="Gotham" pitchFamily="50" charset="0"/>
                <a:cs typeface="Gotham" pitchFamily="50" charset="0"/>
              </a:rPr>
              <a:t>PROGRAMA INCORPORACIÓN DE PROFESIONISTAS PARA EL FORTALECIMIENTO EMPRESARIAL COMECYT</a:t>
            </a:r>
            <a:br>
              <a:rPr lang="es-MX" sz="3600" b="1" dirty="0">
                <a:latin typeface="Gotham" pitchFamily="50" charset="0"/>
                <a:cs typeface="Gotham" pitchFamily="50" charset="0"/>
              </a:rPr>
            </a:br>
            <a:r>
              <a:rPr lang="es-MX" sz="3600" b="1" dirty="0">
                <a:latin typeface="Gotham" pitchFamily="50" charset="0"/>
                <a:cs typeface="Gotham" pitchFamily="50" charset="0"/>
              </a:rPr>
              <a:t>CONVOCATORIA 2026</a:t>
            </a:r>
          </a:p>
        </p:txBody>
      </p:sp>
    </p:spTree>
    <p:extLst>
      <p:ext uri="{BB962C8B-B14F-4D97-AF65-F5344CB8AC3E}">
        <p14:creationId xmlns:p14="http://schemas.microsoft.com/office/powerpoint/2010/main" val="3282809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7CCE44-34FC-82AA-69CC-29959C2F7862}"/>
              </a:ext>
            </a:extLst>
          </p:cNvPr>
          <p:cNvSpPr txBox="1">
            <a:spLocks/>
          </p:cNvSpPr>
          <p:nvPr/>
        </p:nvSpPr>
        <p:spPr>
          <a:xfrm>
            <a:off x="3015800" y="83099"/>
            <a:ext cx="5688169" cy="61628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600" b="1" dirty="0">
                <a:latin typeface="Gotham" pitchFamily="50" charset="0"/>
                <a:cs typeface="Gotham" pitchFamily="50" charset="0"/>
              </a:rPr>
              <a:t>Solicitud de Propuesta</a:t>
            </a:r>
          </a:p>
        </p:txBody>
      </p:sp>
      <p:sp>
        <p:nvSpPr>
          <p:cNvPr id="3" name="Título 1">
            <a:extLst>
              <a:ext uri="{FF2B5EF4-FFF2-40B4-BE49-F238E27FC236}">
                <a16:creationId xmlns:a16="http://schemas.microsoft.com/office/drawing/2014/main" id="{0A5E382E-34FE-51B7-53AC-4B1ADF4691F6}"/>
              </a:ext>
            </a:extLst>
          </p:cNvPr>
          <p:cNvSpPr txBox="1">
            <a:spLocks/>
          </p:cNvSpPr>
          <p:nvPr/>
        </p:nvSpPr>
        <p:spPr>
          <a:xfrm>
            <a:off x="390660" y="699384"/>
            <a:ext cx="9809408" cy="616285"/>
          </a:xfrm>
          <a:prstGeom prst="rect">
            <a:avLst/>
          </a:prstGeom>
        </p:spPr>
        <p:style>
          <a:lnRef idx="3">
            <a:schemeClr val="lt1"/>
          </a:lnRef>
          <a:fillRef idx="1">
            <a:schemeClr val="accent2"/>
          </a:fillRef>
          <a:effectRef idx="1">
            <a:schemeClr val="accent2"/>
          </a:effectRef>
          <a:fontRef idx="minor">
            <a:schemeClr val="lt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600" dirty="0">
                <a:latin typeface="Gotham" pitchFamily="50" charset="0"/>
                <a:cs typeface="Gotham" pitchFamily="50" charset="0"/>
              </a:rPr>
              <a:t>Registro de la Persona Solicitante </a:t>
            </a:r>
          </a:p>
        </p:txBody>
      </p:sp>
      <p:sp>
        <p:nvSpPr>
          <p:cNvPr id="4" name="Título 1">
            <a:extLst>
              <a:ext uri="{FF2B5EF4-FFF2-40B4-BE49-F238E27FC236}">
                <a16:creationId xmlns:a16="http://schemas.microsoft.com/office/drawing/2014/main" id="{E7649E9A-0218-341D-DE3C-EE108C3390B7}"/>
              </a:ext>
            </a:extLst>
          </p:cNvPr>
          <p:cNvSpPr txBox="1">
            <a:spLocks/>
          </p:cNvSpPr>
          <p:nvPr/>
        </p:nvSpPr>
        <p:spPr>
          <a:xfrm>
            <a:off x="390660" y="1396194"/>
            <a:ext cx="4116945" cy="616285"/>
          </a:xfrm>
          <a:prstGeom prst="rect">
            <a:avLst/>
          </a:prstGeom>
        </p:spPr>
        <p:style>
          <a:lnRef idx="2">
            <a:schemeClr val="accent2"/>
          </a:lnRef>
          <a:fillRef idx="1">
            <a:schemeClr val="lt1"/>
          </a:fillRef>
          <a:effectRef idx="0">
            <a:schemeClr val="accent2"/>
          </a:effectRef>
          <a:fontRef idx="minor">
            <a:schemeClr val="dk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600" dirty="0">
                <a:latin typeface="Gotham" pitchFamily="50" charset="0"/>
                <a:cs typeface="Gotham" pitchFamily="50" charset="0"/>
              </a:rPr>
              <a:t>Datos Generales </a:t>
            </a:r>
          </a:p>
        </p:txBody>
      </p:sp>
      <p:sp>
        <p:nvSpPr>
          <p:cNvPr id="5" name="Título 1">
            <a:extLst>
              <a:ext uri="{FF2B5EF4-FFF2-40B4-BE49-F238E27FC236}">
                <a16:creationId xmlns:a16="http://schemas.microsoft.com/office/drawing/2014/main" id="{2DE35F3F-53BB-EB42-F6DE-437B04C780F8}"/>
              </a:ext>
            </a:extLst>
          </p:cNvPr>
          <p:cNvSpPr txBox="1">
            <a:spLocks/>
          </p:cNvSpPr>
          <p:nvPr/>
        </p:nvSpPr>
        <p:spPr>
          <a:xfrm>
            <a:off x="959476" y="2203505"/>
            <a:ext cx="5595869" cy="493935"/>
          </a:xfrm>
          <a:prstGeom prst="rect">
            <a:avLst/>
          </a:prstGeom>
        </p:spPr>
        <p:style>
          <a:lnRef idx="1">
            <a:schemeClr val="accent2"/>
          </a:lnRef>
          <a:fillRef idx="2">
            <a:schemeClr val="accent2"/>
          </a:fillRef>
          <a:effectRef idx="1">
            <a:schemeClr val="accent2"/>
          </a:effectRef>
          <a:fontRef idx="minor">
            <a:schemeClr val="dk1"/>
          </a:fontRef>
        </p:style>
        <p:txBody>
          <a:bodyP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400" dirty="0">
                <a:latin typeface="Gotham" pitchFamily="50" charset="0"/>
                <a:cs typeface="Gotham" pitchFamily="50" charset="0"/>
              </a:rPr>
              <a:t>Nombre de la empresa (razón Social)</a:t>
            </a:r>
          </a:p>
        </p:txBody>
      </p:sp>
      <p:sp>
        <p:nvSpPr>
          <p:cNvPr id="6" name="Título 1">
            <a:hlinkClick r:id="rId2" action="ppaction://hlinksldjump"/>
            <a:extLst>
              <a:ext uri="{FF2B5EF4-FFF2-40B4-BE49-F238E27FC236}">
                <a16:creationId xmlns:a16="http://schemas.microsoft.com/office/drawing/2014/main" id="{516F0976-886A-F9F0-C04A-987E741EE836}"/>
              </a:ext>
            </a:extLst>
          </p:cNvPr>
          <p:cNvSpPr txBox="1">
            <a:spLocks/>
          </p:cNvSpPr>
          <p:nvPr/>
        </p:nvSpPr>
        <p:spPr>
          <a:xfrm>
            <a:off x="959476" y="2883257"/>
            <a:ext cx="4900409" cy="493935"/>
          </a:xfrm>
          <a:prstGeom prst="rect">
            <a:avLst/>
          </a:prstGeom>
        </p:spPr>
        <p:style>
          <a:lnRef idx="1">
            <a:schemeClr val="accent2"/>
          </a:lnRef>
          <a:fillRef idx="2">
            <a:schemeClr val="accent2"/>
          </a:fillRef>
          <a:effectRef idx="1">
            <a:schemeClr val="accent2"/>
          </a:effectRef>
          <a:fontRef idx="minor">
            <a:schemeClr val="dk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800" dirty="0">
                <a:latin typeface="Gotham" pitchFamily="50" charset="0"/>
                <a:cs typeface="Gotham" pitchFamily="50" charset="0"/>
              </a:rPr>
              <a:t>Tamaño de la empresa </a:t>
            </a:r>
          </a:p>
        </p:txBody>
      </p:sp>
      <p:sp>
        <p:nvSpPr>
          <p:cNvPr id="7" name="Título 1">
            <a:hlinkClick r:id="rId3" action="ppaction://hlinksldjump"/>
            <a:extLst>
              <a:ext uri="{FF2B5EF4-FFF2-40B4-BE49-F238E27FC236}">
                <a16:creationId xmlns:a16="http://schemas.microsoft.com/office/drawing/2014/main" id="{4458B5E1-EECD-FFEC-98D5-2CD86193D2AA}"/>
              </a:ext>
            </a:extLst>
          </p:cNvPr>
          <p:cNvSpPr txBox="1">
            <a:spLocks/>
          </p:cNvSpPr>
          <p:nvPr/>
        </p:nvSpPr>
        <p:spPr>
          <a:xfrm>
            <a:off x="959476" y="3532134"/>
            <a:ext cx="4900409" cy="493935"/>
          </a:xfrm>
          <a:prstGeom prst="rect">
            <a:avLst/>
          </a:prstGeom>
        </p:spPr>
        <p:style>
          <a:lnRef idx="1">
            <a:schemeClr val="accent2"/>
          </a:lnRef>
          <a:fillRef idx="2">
            <a:schemeClr val="accent2"/>
          </a:fillRef>
          <a:effectRef idx="1">
            <a:schemeClr val="accent2"/>
          </a:effectRef>
          <a:fontRef idx="minor">
            <a:schemeClr val="dk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800" dirty="0">
                <a:latin typeface="Gotham" pitchFamily="50" charset="0"/>
                <a:cs typeface="Gotham" pitchFamily="50" charset="0"/>
              </a:rPr>
              <a:t>Datos de Contacto</a:t>
            </a:r>
          </a:p>
        </p:txBody>
      </p:sp>
      <p:sp>
        <p:nvSpPr>
          <p:cNvPr id="8" name="Título 1">
            <a:extLst>
              <a:ext uri="{FF2B5EF4-FFF2-40B4-BE49-F238E27FC236}">
                <a16:creationId xmlns:a16="http://schemas.microsoft.com/office/drawing/2014/main" id="{6EA82049-BF0E-1C6E-F10E-43B49C46F218}"/>
              </a:ext>
            </a:extLst>
          </p:cNvPr>
          <p:cNvSpPr txBox="1">
            <a:spLocks/>
          </p:cNvSpPr>
          <p:nvPr/>
        </p:nvSpPr>
        <p:spPr>
          <a:xfrm>
            <a:off x="959476" y="4212601"/>
            <a:ext cx="4900409" cy="493935"/>
          </a:xfrm>
          <a:prstGeom prst="rect">
            <a:avLst/>
          </a:prstGeom>
        </p:spPr>
        <p:style>
          <a:lnRef idx="1">
            <a:schemeClr val="accent2"/>
          </a:lnRef>
          <a:fillRef idx="2">
            <a:schemeClr val="accent2"/>
          </a:fillRef>
          <a:effectRef idx="1">
            <a:schemeClr val="accent2"/>
          </a:effectRef>
          <a:fontRef idx="minor">
            <a:schemeClr val="dk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800" dirty="0">
                <a:latin typeface="Gotham" pitchFamily="50" charset="0"/>
                <a:cs typeface="Gotham" pitchFamily="50" charset="0"/>
              </a:rPr>
              <a:t>Nombre del Proyecto</a:t>
            </a:r>
          </a:p>
        </p:txBody>
      </p:sp>
      <p:sp>
        <p:nvSpPr>
          <p:cNvPr id="9" name="Título 1">
            <a:hlinkClick r:id="rId4" action="ppaction://hlinksldjump"/>
            <a:extLst>
              <a:ext uri="{FF2B5EF4-FFF2-40B4-BE49-F238E27FC236}">
                <a16:creationId xmlns:a16="http://schemas.microsoft.com/office/drawing/2014/main" id="{4D26149F-42C2-661F-2FC4-D4AF194B118F}"/>
              </a:ext>
            </a:extLst>
          </p:cNvPr>
          <p:cNvSpPr txBox="1">
            <a:spLocks/>
          </p:cNvSpPr>
          <p:nvPr/>
        </p:nvSpPr>
        <p:spPr>
          <a:xfrm>
            <a:off x="959475" y="4893068"/>
            <a:ext cx="4900409" cy="493935"/>
          </a:xfrm>
          <a:prstGeom prst="rect">
            <a:avLst/>
          </a:prstGeom>
        </p:spPr>
        <p:style>
          <a:lnRef idx="1">
            <a:schemeClr val="accent2"/>
          </a:lnRef>
          <a:fillRef idx="2">
            <a:schemeClr val="accent2"/>
          </a:fillRef>
          <a:effectRef idx="1">
            <a:schemeClr val="accent2"/>
          </a:effectRef>
          <a:fontRef idx="minor">
            <a:schemeClr val="dk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800" dirty="0">
                <a:latin typeface="Gotham" pitchFamily="50" charset="0"/>
                <a:cs typeface="Gotham" pitchFamily="50" charset="0"/>
              </a:rPr>
              <a:t>Sector estratégico</a:t>
            </a:r>
          </a:p>
        </p:txBody>
      </p:sp>
      <p:sp>
        <p:nvSpPr>
          <p:cNvPr id="10" name="Título 1">
            <a:hlinkClick r:id="rId5" action="ppaction://hlinksldjump"/>
            <a:extLst>
              <a:ext uri="{FF2B5EF4-FFF2-40B4-BE49-F238E27FC236}">
                <a16:creationId xmlns:a16="http://schemas.microsoft.com/office/drawing/2014/main" id="{310739EF-4BB4-C74E-58C8-BD2B65763E94}"/>
              </a:ext>
            </a:extLst>
          </p:cNvPr>
          <p:cNvSpPr txBox="1">
            <a:spLocks/>
          </p:cNvSpPr>
          <p:nvPr/>
        </p:nvSpPr>
        <p:spPr>
          <a:xfrm>
            <a:off x="959474" y="5524405"/>
            <a:ext cx="4900409" cy="493935"/>
          </a:xfrm>
          <a:prstGeom prst="rect">
            <a:avLst/>
          </a:prstGeom>
        </p:spPr>
        <p:style>
          <a:lnRef idx="1">
            <a:schemeClr val="accent2"/>
          </a:lnRef>
          <a:fillRef idx="2">
            <a:schemeClr val="accent2"/>
          </a:fillRef>
          <a:effectRef idx="1">
            <a:schemeClr val="accent2"/>
          </a:effectRef>
          <a:fontRef idx="minor">
            <a:schemeClr val="dk1"/>
          </a:fontRef>
        </p:style>
        <p:txBody>
          <a:bodyP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800" dirty="0">
                <a:latin typeface="Gotham" pitchFamily="50" charset="0"/>
                <a:cs typeface="Gotham" pitchFamily="50" charset="0"/>
              </a:rPr>
              <a:t>Modalidad de participación</a:t>
            </a:r>
          </a:p>
        </p:txBody>
      </p:sp>
      <p:sp>
        <p:nvSpPr>
          <p:cNvPr id="11" name="Título 1">
            <a:extLst>
              <a:ext uri="{FF2B5EF4-FFF2-40B4-BE49-F238E27FC236}">
                <a16:creationId xmlns:a16="http://schemas.microsoft.com/office/drawing/2014/main" id="{B82243BF-60E3-A4BA-654F-B6026382E29F}"/>
              </a:ext>
            </a:extLst>
          </p:cNvPr>
          <p:cNvSpPr txBox="1">
            <a:spLocks/>
          </p:cNvSpPr>
          <p:nvPr/>
        </p:nvSpPr>
        <p:spPr>
          <a:xfrm>
            <a:off x="959474" y="6155742"/>
            <a:ext cx="3885125" cy="493935"/>
          </a:xfrm>
          <a:prstGeom prst="rect">
            <a:avLst/>
          </a:prstGeom>
        </p:spPr>
        <p:style>
          <a:lnRef idx="1">
            <a:schemeClr val="accent2"/>
          </a:lnRef>
          <a:fillRef idx="2">
            <a:schemeClr val="accent2"/>
          </a:fillRef>
          <a:effectRef idx="1">
            <a:schemeClr val="accent2"/>
          </a:effectRef>
          <a:fontRef idx="minor">
            <a:schemeClr val="dk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400" dirty="0">
                <a:latin typeface="Gotham" pitchFamily="50" charset="0"/>
                <a:cs typeface="Gotham" pitchFamily="50" charset="0"/>
              </a:rPr>
              <a:t>Duración del Proyecto</a:t>
            </a:r>
          </a:p>
        </p:txBody>
      </p:sp>
      <p:sp>
        <p:nvSpPr>
          <p:cNvPr id="12" name="Título 1">
            <a:extLst>
              <a:ext uri="{FF2B5EF4-FFF2-40B4-BE49-F238E27FC236}">
                <a16:creationId xmlns:a16="http://schemas.microsoft.com/office/drawing/2014/main" id="{9682F7C9-3EF0-1F45-0753-AD0554BD690E}"/>
              </a:ext>
            </a:extLst>
          </p:cNvPr>
          <p:cNvSpPr txBox="1">
            <a:spLocks/>
          </p:cNvSpPr>
          <p:nvPr/>
        </p:nvSpPr>
        <p:spPr>
          <a:xfrm>
            <a:off x="6332117" y="2457644"/>
            <a:ext cx="5595869" cy="493935"/>
          </a:xfrm>
          <a:prstGeom prst="rect">
            <a:avLst/>
          </a:prstGeom>
        </p:spPr>
        <p:style>
          <a:lnRef idx="2">
            <a:schemeClr val="accent2"/>
          </a:lnRef>
          <a:fillRef idx="1">
            <a:schemeClr val="lt1"/>
          </a:fillRef>
          <a:effectRef idx="0">
            <a:schemeClr val="accent2"/>
          </a:effectRef>
          <a:fontRef idx="minor">
            <a:schemeClr val="dk1"/>
          </a:fontRef>
        </p:style>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1600" dirty="0">
                <a:latin typeface="Gotham" pitchFamily="50" charset="0"/>
                <a:cs typeface="Gotham" pitchFamily="50" charset="0"/>
              </a:rPr>
              <a:t>Colocar el nombre de la empresa de acuerdo a su razón social</a:t>
            </a:r>
          </a:p>
        </p:txBody>
      </p:sp>
      <p:sp>
        <p:nvSpPr>
          <p:cNvPr id="13" name="Título 1">
            <a:extLst>
              <a:ext uri="{FF2B5EF4-FFF2-40B4-BE49-F238E27FC236}">
                <a16:creationId xmlns:a16="http://schemas.microsoft.com/office/drawing/2014/main" id="{C1C410F0-4D96-ED3D-91B9-0123F42D6D78}"/>
              </a:ext>
            </a:extLst>
          </p:cNvPr>
          <p:cNvSpPr txBox="1">
            <a:spLocks/>
          </p:cNvSpPr>
          <p:nvPr/>
        </p:nvSpPr>
        <p:spPr>
          <a:xfrm>
            <a:off x="4507605" y="6368690"/>
            <a:ext cx="5595869" cy="493935"/>
          </a:xfrm>
          <a:prstGeom prst="rect">
            <a:avLst/>
          </a:prstGeom>
        </p:spPr>
        <p:style>
          <a:lnRef idx="2">
            <a:schemeClr val="accent2"/>
          </a:lnRef>
          <a:fillRef idx="1">
            <a:schemeClr val="lt1"/>
          </a:fillRef>
          <a:effectRef idx="0">
            <a:schemeClr val="accent2"/>
          </a:effectRef>
          <a:fontRef idx="minor">
            <a:schemeClr val="dk1"/>
          </a:fontRef>
        </p:style>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1600" dirty="0">
                <a:latin typeface="Gotham" pitchFamily="50" charset="0"/>
                <a:cs typeface="Gotham" pitchFamily="50" charset="0"/>
              </a:rPr>
              <a:t>Colocar en meses el tiempo a desarrollar el proyecto, máximo 12 meses</a:t>
            </a:r>
          </a:p>
        </p:txBody>
      </p:sp>
    </p:spTree>
    <p:extLst>
      <p:ext uri="{BB962C8B-B14F-4D97-AF65-F5344CB8AC3E}">
        <p14:creationId xmlns:p14="http://schemas.microsoft.com/office/powerpoint/2010/main" val="2242616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hlinkClick r:id="rId2" action="ppaction://hlinksldjump"/>
            <a:extLst>
              <a:ext uri="{FF2B5EF4-FFF2-40B4-BE49-F238E27FC236}">
                <a16:creationId xmlns:a16="http://schemas.microsoft.com/office/drawing/2014/main" id="{9AE3B11C-D871-DA7F-355C-1384EE3AEFA4}"/>
              </a:ext>
            </a:extLst>
          </p:cNvPr>
          <p:cNvSpPr txBox="1">
            <a:spLocks/>
          </p:cNvSpPr>
          <p:nvPr/>
        </p:nvSpPr>
        <p:spPr>
          <a:xfrm>
            <a:off x="598870" y="704276"/>
            <a:ext cx="4900409" cy="493935"/>
          </a:xfrm>
          <a:prstGeom prst="rect">
            <a:avLst/>
          </a:prstGeom>
        </p:spPr>
        <p:style>
          <a:lnRef idx="1">
            <a:schemeClr val="accent2"/>
          </a:lnRef>
          <a:fillRef idx="2">
            <a:schemeClr val="accent2"/>
          </a:fillRef>
          <a:effectRef idx="1">
            <a:schemeClr val="accent2"/>
          </a:effectRef>
          <a:fontRef idx="minor">
            <a:schemeClr val="dk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800" dirty="0">
                <a:latin typeface="Gotham" pitchFamily="50" charset="0"/>
                <a:cs typeface="Gotham" pitchFamily="50" charset="0"/>
              </a:rPr>
              <a:t>Tamaño de la empresa </a:t>
            </a:r>
          </a:p>
        </p:txBody>
      </p:sp>
      <p:sp>
        <p:nvSpPr>
          <p:cNvPr id="3" name="Título 1">
            <a:extLst>
              <a:ext uri="{FF2B5EF4-FFF2-40B4-BE49-F238E27FC236}">
                <a16:creationId xmlns:a16="http://schemas.microsoft.com/office/drawing/2014/main" id="{F4FE8B44-58AA-5781-6886-D16B70DB2133}"/>
              </a:ext>
            </a:extLst>
          </p:cNvPr>
          <p:cNvSpPr txBox="1">
            <a:spLocks/>
          </p:cNvSpPr>
          <p:nvPr/>
        </p:nvSpPr>
        <p:spPr>
          <a:xfrm>
            <a:off x="1345845" y="1595662"/>
            <a:ext cx="2247361" cy="493935"/>
          </a:xfrm>
          <a:prstGeom prst="rect">
            <a:avLst/>
          </a:prstGeom>
        </p:spPr>
        <p:style>
          <a:lnRef idx="2">
            <a:schemeClr val="accent2"/>
          </a:lnRef>
          <a:fillRef idx="1">
            <a:schemeClr val="lt1"/>
          </a:fillRef>
          <a:effectRef idx="0">
            <a:schemeClr val="accent2"/>
          </a:effectRef>
          <a:fontRef idx="minor">
            <a:schemeClr val="dk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400" dirty="0" err="1">
                <a:latin typeface="Gotham" pitchFamily="50" charset="0"/>
                <a:cs typeface="Gotham" pitchFamily="50" charset="0"/>
              </a:rPr>
              <a:t>Mipyme</a:t>
            </a:r>
            <a:endParaRPr lang="es-MX" sz="2400" dirty="0">
              <a:latin typeface="Gotham" pitchFamily="50" charset="0"/>
              <a:cs typeface="Gotham" pitchFamily="50" charset="0"/>
            </a:endParaRPr>
          </a:p>
        </p:txBody>
      </p:sp>
      <p:sp>
        <p:nvSpPr>
          <p:cNvPr id="4" name="Título 1">
            <a:extLst>
              <a:ext uri="{FF2B5EF4-FFF2-40B4-BE49-F238E27FC236}">
                <a16:creationId xmlns:a16="http://schemas.microsoft.com/office/drawing/2014/main" id="{E9746CD8-19F9-83A7-6915-EB25E12A58F5}"/>
              </a:ext>
            </a:extLst>
          </p:cNvPr>
          <p:cNvSpPr txBox="1">
            <a:spLocks/>
          </p:cNvSpPr>
          <p:nvPr/>
        </p:nvSpPr>
        <p:spPr>
          <a:xfrm>
            <a:off x="1859925" y="2488474"/>
            <a:ext cx="2647681" cy="493935"/>
          </a:xfrm>
          <a:prstGeom prst="rect">
            <a:avLst/>
          </a:prstGeom>
        </p:spPr>
        <p:style>
          <a:lnRef idx="2">
            <a:schemeClr val="accent2"/>
          </a:lnRef>
          <a:fillRef idx="1">
            <a:schemeClr val="lt1"/>
          </a:fillRef>
          <a:effectRef idx="0">
            <a:schemeClr val="accent2"/>
          </a:effectRef>
          <a:fontRef idx="minor">
            <a:schemeClr val="dk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400" dirty="0">
                <a:latin typeface="Gotham" pitchFamily="50" charset="0"/>
                <a:cs typeface="Gotham" pitchFamily="50" charset="0"/>
              </a:rPr>
              <a:t>Grande</a:t>
            </a:r>
          </a:p>
        </p:txBody>
      </p:sp>
    </p:spTree>
    <p:extLst>
      <p:ext uri="{BB962C8B-B14F-4D97-AF65-F5344CB8AC3E}">
        <p14:creationId xmlns:p14="http://schemas.microsoft.com/office/powerpoint/2010/main" val="2181994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hlinkClick r:id="rId2" action="ppaction://hlinksldjump"/>
            <a:extLst>
              <a:ext uri="{FF2B5EF4-FFF2-40B4-BE49-F238E27FC236}">
                <a16:creationId xmlns:a16="http://schemas.microsoft.com/office/drawing/2014/main" id="{5D9DF9D9-DE69-55A2-6B09-895443B2094C}"/>
              </a:ext>
            </a:extLst>
          </p:cNvPr>
          <p:cNvSpPr txBox="1">
            <a:spLocks/>
          </p:cNvSpPr>
          <p:nvPr/>
        </p:nvSpPr>
        <p:spPr>
          <a:xfrm>
            <a:off x="611749" y="686259"/>
            <a:ext cx="4900409" cy="493935"/>
          </a:xfrm>
          <a:prstGeom prst="rect">
            <a:avLst/>
          </a:prstGeom>
        </p:spPr>
        <p:style>
          <a:lnRef idx="1">
            <a:schemeClr val="accent2"/>
          </a:lnRef>
          <a:fillRef idx="2">
            <a:schemeClr val="accent2"/>
          </a:fillRef>
          <a:effectRef idx="1">
            <a:schemeClr val="accent2"/>
          </a:effectRef>
          <a:fontRef idx="minor">
            <a:schemeClr val="dk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800" dirty="0">
                <a:latin typeface="Gotham" pitchFamily="50" charset="0"/>
                <a:cs typeface="Gotham" pitchFamily="50" charset="0"/>
              </a:rPr>
              <a:t>Datos de Contacto</a:t>
            </a:r>
          </a:p>
        </p:txBody>
      </p:sp>
      <p:graphicFrame>
        <p:nvGraphicFramePr>
          <p:cNvPr id="3" name="Tabla 2">
            <a:extLst>
              <a:ext uri="{FF2B5EF4-FFF2-40B4-BE49-F238E27FC236}">
                <a16:creationId xmlns:a16="http://schemas.microsoft.com/office/drawing/2014/main" id="{B5661228-C2D8-E022-7CD1-95237EA2DF36}"/>
              </a:ext>
            </a:extLst>
          </p:cNvPr>
          <p:cNvGraphicFramePr>
            <a:graphicFrameLocks noGrp="1"/>
          </p:cNvGraphicFramePr>
          <p:nvPr>
            <p:extLst>
              <p:ext uri="{D42A27DB-BD31-4B8C-83A1-F6EECF244321}">
                <p14:modId xmlns:p14="http://schemas.microsoft.com/office/powerpoint/2010/main" val="224790215"/>
              </p:ext>
            </p:extLst>
          </p:nvPr>
        </p:nvGraphicFramePr>
        <p:xfrm>
          <a:off x="611749" y="1529620"/>
          <a:ext cx="10515600" cy="3116961"/>
        </p:xfrm>
        <a:graphic>
          <a:graphicData uri="http://schemas.openxmlformats.org/drawingml/2006/table">
            <a:tbl>
              <a:tblPr firstRow="1" firstCol="1" bandRow="1">
                <a:tableStyleId>{0E3FDE45-AF77-4B5C-9715-49D594BDF05E}</a:tableStyleId>
              </a:tblPr>
              <a:tblGrid>
                <a:gridCol w="3556376">
                  <a:extLst>
                    <a:ext uri="{9D8B030D-6E8A-4147-A177-3AD203B41FA5}">
                      <a16:colId xmlns:a16="http://schemas.microsoft.com/office/drawing/2014/main" val="2382134903"/>
                    </a:ext>
                  </a:extLst>
                </a:gridCol>
                <a:gridCol w="6959224">
                  <a:extLst>
                    <a:ext uri="{9D8B030D-6E8A-4147-A177-3AD203B41FA5}">
                      <a16:colId xmlns:a16="http://schemas.microsoft.com/office/drawing/2014/main" val="2987971981"/>
                    </a:ext>
                  </a:extLst>
                </a:gridCol>
              </a:tblGrid>
              <a:tr h="179705">
                <a:tc gridSpan="2">
                  <a:txBody>
                    <a:bodyPr/>
                    <a:lstStyle/>
                    <a:p>
                      <a:pPr>
                        <a:lnSpc>
                          <a:spcPct val="107000"/>
                        </a:lnSpc>
                        <a:spcAft>
                          <a:spcPts val="800"/>
                        </a:spcAft>
                        <a:buNone/>
                      </a:pPr>
                      <a:r>
                        <a:rPr lang="es-MX" sz="2000" dirty="0">
                          <a:effectLst/>
                          <a:latin typeface="Gotham" pitchFamily="50" charset="0"/>
                          <a:cs typeface="Gotham" pitchFamily="50" charset="0"/>
                        </a:rPr>
                        <a:t>Representante Legal</a:t>
                      </a:r>
                      <a:endParaRPr lang="es-MX" sz="2000" dirty="0">
                        <a:effectLst/>
                        <a:latin typeface="Gotham" pitchFamily="50" charset="0"/>
                        <a:ea typeface="Calibri" panose="020F0502020204030204" pitchFamily="34" charset="0"/>
                        <a:cs typeface="Gotham" pitchFamily="50" charset="0"/>
                      </a:endParaRPr>
                    </a:p>
                  </a:txBody>
                  <a:tcPr marL="62865" marR="62865" marT="0" marB="0" anchor="ctr"/>
                </a:tc>
                <a:tc hMerge="1">
                  <a:txBody>
                    <a:bodyPr/>
                    <a:lstStyle/>
                    <a:p>
                      <a:endParaRPr lang="es-MX"/>
                    </a:p>
                  </a:txBody>
                  <a:tcPr/>
                </a:tc>
                <a:extLst>
                  <a:ext uri="{0D108BD9-81ED-4DB2-BD59-A6C34878D82A}">
                    <a16:rowId xmlns:a16="http://schemas.microsoft.com/office/drawing/2014/main" val="1463289858"/>
                  </a:ext>
                </a:extLst>
              </a:tr>
              <a:tr h="179705">
                <a:tc>
                  <a:txBody>
                    <a:bodyPr/>
                    <a:lstStyle/>
                    <a:p>
                      <a:pPr>
                        <a:lnSpc>
                          <a:spcPct val="107000"/>
                        </a:lnSpc>
                        <a:spcAft>
                          <a:spcPts val="800"/>
                        </a:spcAft>
                        <a:buNone/>
                      </a:pPr>
                      <a:r>
                        <a:rPr lang="es-MX" sz="1600">
                          <a:effectLst/>
                          <a:latin typeface="Gotham" pitchFamily="50" charset="0"/>
                          <a:cs typeface="Gotham" pitchFamily="50" charset="0"/>
                        </a:rPr>
                        <a:t>Nombre completo</a:t>
                      </a:r>
                      <a:endParaRPr lang="es-MX" sz="2000">
                        <a:effectLst/>
                        <a:latin typeface="Gotham" pitchFamily="50" charset="0"/>
                        <a:ea typeface="Calibri" panose="020F0502020204030204" pitchFamily="34" charset="0"/>
                        <a:cs typeface="Gotham" pitchFamily="50" charset="0"/>
                      </a:endParaRPr>
                    </a:p>
                  </a:txBody>
                  <a:tcPr marL="62865" marR="62865" marT="0" marB="0" anchor="ctr"/>
                </a:tc>
                <a:tc>
                  <a:txBody>
                    <a:bodyPr/>
                    <a:lstStyle/>
                    <a:p>
                      <a:pPr>
                        <a:lnSpc>
                          <a:spcPct val="107000"/>
                        </a:lnSpc>
                        <a:spcAft>
                          <a:spcPts val="800"/>
                        </a:spcAft>
                        <a:buNone/>
                      </a:pPr>
                      <a:r>
                        <a:rPr lang="es-MX" sz="1600">
                          <a:effectLst/>
                          <a:latin typeface="Gotham" pitchFamily="50" charset="0"/>
                          <a:cs typeface="Gotham" pitchFamily="50" charset="0"/>
                        </a:rPr>
                        <a:t> </a:t>
                      </a:r>
                      <a:endParaRPr lang="es-MX" sz="2000">
                        <a:effectLst/>
                        <a:latin typeface="Gotham" pitchFamily="50" charset="0"/>
                        <a:ea typeface="Calibri" panose="020F0502020204030204" pitchFamily="34" charset="0"/>
                        <a:cs typeface="Gotham" pitchFamily="50" charset="0"/>
                      </a:endParaRPr>
                    </a:p>
                  </a:txBody>
                  <a:tcPr marL="62865" marR="62865" marT="0" marB="0" anchor="ctr"/>
                </a:tc>
                <a:extLst>
                  <a:ext uri="{0D108BD9-81ED-4DB2-BD59-A6C34878D82A}">
                    <a16:rowId xmlns:a16="http://schemas.microsoft.com/office/drawing/2014/main" val="1775735824"/>
                  </a:ext>
                </a:extLst>
              </a:tr>
              <a:tr h="179705">
                <a:tc>
                  <a:txBody>
                    <a:bodyPr/>
                    <a:lstStyle/>
                    <a:p>
                      <a:pPr>
                        <a:lnSpc>
                          <a:spcPct val="107000"/>
                        </a:lnSpc>
                        <a:spcAft>
                          <a:spcPts val="800"/>
                        </a:spcAft>
                        <a:buNone/>
                      </a:pPr>
                      <a:r>
                        <a:rPr lang="es-MX" sz="1600">
                          <a:effectLst/>
                          <a:latin typeface="Gotham" pitchFamily="50" charset="0"/>
                          <a:cs typeface="Gotham" pitchFamily="50" charset="0"/>
                        </a:rPr>
                        <a:t>Teléfono (s)</a:t>
                      </a:r>
                      <a:endParaRPr lang="es-MX" sz="2000">
                        <a:effectLst/>
                        <a:latin typeface="Gotham" pitchFamily="50" charset="0"/>
                        <a:ea typeface="Calibri" panose="020F0502020204030204" pitchFamily="34" charset="0"/>
                        <a:cs typeface="Gotham" pitchFamily="50" charset="0"/>
                      </a:endParaRPr>
                    </a:p>
                  </a:txBody>
                  <a:tcPr marL="62865" marR="62865" marT="0" marB="0" anchor="ctr"/>
                </a:tc>
                <a:tc>
                  <a:txBody>
                    <a:bodyPr/>
                    <a:lstStyle/>
                    <a:p>
                      <a:pPr>
                        <a:lnSpc>
                          <a:spcPct val="107000"/>
                        </a:lnSpc>
                        <a:spcAft>
                          <a:spcPts val="800"/>
                        </a:spcAft>
                        <a:buNone/>
                      </a:pPr>
                      <a:r>
                        <a:rPr lang="es-MX" sz="1600">
                          <a:effectLst/>
                          <a:latin typeface="Gotham" pitchFamily="50" charset="0"/>
                          <a:cs typeface="Gotham" pitchFamily="50" charset="0"/>
                        </a:rPr>
                        <a:t> </a:t>
                      </a:r>
                      <a:endParaRPr lang="es-MX" sz="2000">
                        <a:effectLst/>
                        <a:latin typeface="Gotham" pitchFamily="50" charset="0"/>
                        <a:ea typeface="Calibri" panose="020F0502020204030204" pitchFamily="34" charset="0"/>
                        <a:cs typeface="Gotham" pitchFamily="50" charset="0"/>
                      </a:endParaRPr>
                    </a:p>
                  </a:txBody>
                  <a:tcPr marL="62865" marR="62865" marT="0" marB="0" anchor="ctr"/>
                </a:tc>
                <a:extLst>
                  <a:ext uri="{0D108BD9-81ED-4DB2-BD59-A6C34878D82A}">
                    <a16:rowId xmlns:a16="http://schemas.microsoft.com/office/drawing/2014/main" val="2009859645"/>
                  </a:ext>
                </a:extLst>
              </a:tr>
              <a:tr h="179705">
                <a:tc>
                  <a:txBody>
                    <a:bodyPr/>
                    <a:lstStyle/>
                    <a:p>
                      <a:pPr>
                        <a:lnSpc>
                          <a:spcPct val="107000"/>
                        </a:lnSpc>
                        <a:spcAft>
                          <a:spcPts val="800"/>
                        </a:spcAft>
                        <a:buNone/>
                      </a:pPr>
                      <a:r>
                        <a:rPr lang="es-MX" sz="1600">
                          <a:effectLst/>
                          <a:latin typeface="Gotham" pitchFamily="50" charset="0"/>
                          <a:cs typeface="Gotham" pitchFamily="50" charset="0"/>
                        </a:rPr>
                        <a:t>Correo electrónico</a:t>
                      </a:r>
                      <a:endParaRPr lang="es-MX" sz="2000">
                        <a:effectLst/>
                        <a:latin typeface="Gotham" pitchFamily="50" charset="0"/>
                        <a:ea typeface="Calibri" panose="020F0502020204030204" pitchFamily="34" charset="0"/>
                        <a:cs typeface="Gotham" pitchFamily="50" charset="0"/>
                      </a:endParaRPr>
                    </a:p>
                  </a:txBody>
                  <a:tcPr marL="62865" marR="62865" marT="0" marB="0" anchor="ctr"/>
                </a:tc>
                <a:tc>
                  <a:txBody>
                    <a:bodyPr/>
                    <a:lstStyle/>
                    <a:p>
                      <a:pPr>
                        <a:lnSpc>
                          <a:spcPct val="107000"/>
                        </a:lnSpc>
                        <a:spcAft>
                          <a:spcPts val="800"/>
                        </a:spcAft>
                        <a:buNone/>
                      </a:pPr>
                      <a:r>
                        <a:rPr lang="es-MX" sz="1600">
                          <a:effectLst/>
                          <a:latin typeface="Gotham" pitchFamily="50" charset="0"/>
                          <a:cs typeface="Gotham" pitchFamily="50" charset="0"/>
                        </a:rPr>
                        <a:t> </a:t>
                      </a:r>
                      <a:endParaRPr lang="es-MX" sz="2000">
                        <a:effectLst/>
                        <a:latin typeface="Gotham" pitchFamily="50" charset="0"/>
                        <a:ea typeface="Calibri" panose="020F0502020204030204" pitchFamily="34" charset="0"/>
                        <a:cs typeface="Gotham" pitchFamily="50" charset="0"/>
                      </a:endParaRPr>
                    </a:p>
                  </a:txBody>
                  <a:tcPr marL="62865" marR="62865" marT="0" marB="0" anchor="ctr"/>
                </a:tc>
                <a:extLst>
                  <a:ext uri="{0D108BD9-81ED-4DB2-BD59-A6C34878D82A}">
                    <a16:rowId xmlns:a16="http://schemas.microsoft.com/office/drawing/2014/main" val="3584533239"/>
                  </a:ext>
                </a:extLst>
              </a:tr>
              <a:tr h="179705">
                <a:tc gridSpan="2">
                  <a:txBody>
                    <a:bodyPr/>
                    <a:lstStyle/>
                    <a:p>
                      <a:pPr>
                        <a:lnSpc>
                          <a:spcPct val="107000"/>
                        </a:lnSpc>
                        <a:spcAft>
                          <a:spcPts val="800"/>
                        </a:spcAft>
                        <a:buNone/>
                      </a:pPr>
                      <a:r>
                        <a:rPr lang="es-MX" sz="2000" dirty="0">
                          <a:effectLst/>
                          <a:latin typeface="Gotham" pitchFamily="50" charset="0"/>
                          <a:cs typeface="Gotham" pitchFamily="50" charset="0"/>
                        </a:rPr>
                        <a:t>Responsable Administrativo*</a:t>
                      </a:r>
                      <a:endParaRPr lang="es-MX" sz="2000" dirty="0">
                        <a:effectLst/>
                        <a:latin typeface="Gotham" pitchFamily="50" charset="0"/>
                        <a:ea typeface="Calibri" panose="020F0502020204030204" pitchFamily="34" charset="0"/>
                        <a:cs typeface="Gotham" pitchFamily="50" charset="0"/>
                      </a:endParaRPr>
                    </a:p>
                  </a:txBody>
                  <a:tcPr marL="62865" marR="62865" marT="0" marB="0" anchor="ctr"/>
                </a:tc>
                <a:tc hMerge="1">
                  <a:txBody>
                    <a:bodyPr/>
                    <a:lstStyle/>
                    <a:p>
                      <a:endParaRPr lang="es-MX"/>
                    </a:p>
                  </a:txBody>
                  <a:tcPr/>
                </a:tc>
                <a:extLst>
                  <a:ext uri="{0D108BD9-81ED-4DB2-BD59-A6C34878D82A}">
                    <a16:rowId xmlns:a16="http://schemas.microsoft.com/office/drawing/2014/main" val="158983813"/>
                  </a:ext>
                </a:extLst>
              </a:tr>
              <a:tr h="179705">
                <a:tc>
                  <a:txBody>
                    <a:bodyPr/>
                    <a:lstStyle/>
                    <a:p>
                      <a:pPr>
                        <a:lnSpc>
                          <a:spcPct val="107000"/>
                        </a:lnSpc>
                        <a:spcAft>
                          <a:spcPts val="800"/>
                        </a:spcAft>
                        <a:buNone/>
                      </a:pPr>
                      <a:r>
                        <a:rPr lang="es-MX" sz="1600">
                          <a:effectLst/>
                          <a:latin typeface="Gotham" pitchFamily="50" charset="0"/>
                          <a:cs typeface="Gotham" pitchFamily="50" charset="0"/>
                        </a:rPr>
                        <a:t>Nombre completo</a:t>
                      </a:r>
                      <a:endParaRPr lang="es-MX" sz="2000">
                        <a:effectLst/>
                        <a:latin typeface="Gotham" pitchFamily="50" charset="0"/>
                        <a:ea typeface="Calibri" panose="020F0502020204030204" pitchFamily="34" charset="0"/>
                        <a:cs typeface="Gotham" pitchFamily="50" charset="0"/>
                      </a:endParaRPr>
                    </a:p>
                  </a:txBody>
                  <a:tcPr marL="62865" marR="62865" marT="0" marB="0" anchor="ctr"/>
                </a:tc>
                <a:tc>
                  <a:txBody>
                    <a:bodyPr/>
                    <a:lstStyle/>
                    <a:p>
                      <a:pPr>
                        <a:lnSpc>
                          <a:spcPct val="107000"/>
                        </a:lnSpc>
                        <a:spcAft>
                          <a:spcPts val="800"/>
                        </a:spcAft>
                        <a:buNone/>
                      </a:pPr>
                      <a:r>
                        <a:rPr lang="es-MX" sz="1600">
                          <a:effectLst/>
                          <a:latin typeface="Gotham" pitchFamily="50" charset="0"/>
                          <a:cs typeface="Gotham" pitchFamily="50" charset="0"/>
                        </a:rPr>
                        <a:t> </a:t>
                      </a:r>
                      <a:endParaRPr lang="es-MX" sz="2000">
                        <a:effectLst/>
                        <a:latin typeface="Gotham" pitchFamily="50" charset="0"/>
                        <a:ea typeface="Calibri" panose="020F0502020204030204" pitchFamily="34" charset="0"/>
                        <a:cs typeface="Gotham" pitchFamily="50" charset="0"/>
                      </a:endParaRPr>
                    </a:p>
                  </a:txBody>
                  <a:tcPr marL="62865" marR="62865" marT="0" marB="0" anchor="ctr"/>
                </a:tc>
                <a:extLst>
                  <a:ext uri="{0D108BD9-81ED-4DB2-BD59-A6C34878D82A}">
                    <a16:rowId xmlns:a16="http://schemas.microsoft.com/office/drawing/2014/main" val="3920192814"/>
                  </a:ext>
                </a:extLst>
              </a:tr>
              <a:tr h="179705">
                <a:tc>
                  <a:txBody>
                    <a:bodyPr/>
                    <a:lstStyle/>
                    <a:p>
                      <a:pPr>
                        <a:lnSpc>
                          <a:spcPct val="107000"/>
                        </a:lnSpc>
                        <a:spcAft>
                          <a:spcPts val="800"/>
                        </a:spcAft>
                        <a:buNone/>
                      </a:pPr>
                      <a:r>
                        <a:rPr lang="es-MX" sz="1600">
                          <a:effectLst/>
                          <a:latin typeface="Gotham" pitchFamily="50" charset="0"/>
                          <a:cs typeface="Gotham" pitchFamily="50" charset="0"/>
                        </a:rPr>
                        <a:t>Teléfono (s)</a:t>
                      </a:r>
                      <a:endParaRPr lang="es-MX" sz="2000">
                        <a:effectLst/>
                        <a:latin typeface="Gotham" pitchFamily="50" charset="0"/>
                        <a:ea typeface="Calibri" panose="020F0502020204030204" pitchFamily="34" charset="0"/>
                        <a:cs typeface="Gotham" pitchFamily="50" charset="0"/>
                      </a:endParaRPr>
                    </a:p>
                  </a:txBody>
                  <a:tcPr marL="62865" marR="62865" marT="0" marB="0" anchor="ctr"/>
                </a:tc>
                <a:tc>
                  <a:txBody>
                    <a:bodyPr/>
                    <a:lstStyle/>
                    <a:p>
                      <a:pPr>
                        <a:lnSpc>
                          <a:spcPct val="107000"/>
                        </a:lnSpc>
                        <a:spcAft>
                          <a:spcPts val="800"/>
                        </a:spcAft>
                        <a:buNone/>
                      </a:pPr>
                      <a:r>
                        <a:rPr lang="es-MX" sz="1600" dirty="0">
                          <a:effectLst/>
                          <a:latin typeface="Gotham" pitchFamily="50" charset="0"/>
                          <a:cs typeface="Gotham" pitchFamily="50" charset="0"/>
                        </a:rPr>
                        <a:t> </a:t>
                      </a:r>
                      <a:endParaRPr lang="es-MX" sz="2000" dirty="0">
                        <a:effectLst/>
                        <a:latin typeface="Gotham" pitchFamily="50" charset="0"/>
                        <a:ea typeface="Calibri" panose="020F0502020204030204" pitchFamily="34" charset="0"/>
                        <a:cs typeface="Gotham" pitchFamily="50" charset="0"/>
                      </a:endParaRPr>
                    </a:p>
                  </a:txBody>
                  <a:tcPr marL="62865" marR="62865" marT="0" marB="0" anchor="ctr"/>
                </a:tc>
                <a:extLst>
                  <a:ext uri="{0D108BD9-81ED-4DB2-BD59-A6C34878D82A}">
                    <a16:rowId xmlns:a16="http://schemas.microsoft.com/office/drawing/2014/main" val="4172423473"/>
                  </a:ext>
                </a:extLst>
              </a:tr>
              <a:tr h="179705">
                <a:tc>
                  <a:txBody>
                    <a:bodyPr/>
                    <a:lstStyle/>
                    <a:p>
                      <a:pPr>
                        <a:lnSpc>
                          <a:spcPct val="107000"/>
                        </a:lnSpc>
                        <a:spcAft>
                          <a:spcPts val="800"/>
                        </a:spcAft>
                        <a:buNone/>
                      </a:pPr>
                      <a:r>
                        <a:rPr lang="es-MX" sz="1600">
                          <a:effectLst/>
                          <a:latin typeface="Gotham" pitchFamily="50" charset="0"/>
                          <a:cs typeface="Gotham" pitchFamily="50" charset="0"/>
                        </a:rPr>
                        <a:t>Correo electrónico</a:t>
                      </a:r>
                      <a:endParaRPr lang="es-MX" sz="2000">
                        <a:effectLst/>
                        <a:latin typeface="Gotham" pitchFamily="50" charset="0"/>
                        <a:ea typeface="Calibri" panose="020F0502020204030204" pitchFamily="34" charset="0"/>
                        <a:cs typeface="Gotham" pitchFamily="50" charset="0"/>
                      </a:endParaRPr>
                    </a:p>
                  </a:txBody>
                  <a:tcPr marL="62865" marR="62865" marT="0" marB="0" anchor="ctr"/>
                </a:tc>
                <a:tc>
                  <a:txBody>
                    <a:bodyPr/>
                    <a:lstStyle/>
                    <a:p>
                      <a:pPr>
                        <a:lnSpc>
                          <a:spcPct val="107000"/>
                        </a:lnSpc>
                        <a:spcAft>
                          <a:spcPts val="800"/>
                        </a:spcAft>
                        <a:buNone/>
                      </a:pPr>
                      <a:r>
                        <a:rPr lang="es-MX" sz="1600">
                          <a:effectLst/>
                          <a:latin typeface="Gotham" pitchFamily="50" charset="0"/>
                          <a:cs typeface="Gotham" pitchFamily="50" charset="0"/>
                        </a:rPr>
                        <a:t> </a:t>
                      </a:r>
                      <a:endParaRPr lang="es-MX" sz="2000">
                        <a:effectLst/>
                        <a:latin typeface="Gotham" pitchFamily="50" charset="0"/>
                        <a:ea typeface="Calibri" panose="020F0502020204030204" pitchFamily="34" charset="0"/>
                        <a:cs typeface="Gotham" pitchFamily="50" charset="0"/>
                      </a:endParaRPr>
                    </a:p>
                  </a:txBody>
                  <a:tcPr marL="62865" marR="62865" marT="0" marB="0" anchor="ctr"/>
                </a:tc>
                <a:extLst>
                  <a:ext uri="{0D108BD9-81ED-4DB2-BD59-A6C34878D82A}">
                    <a16:rowId xmlns:a16="http://schemas.microsoft.com/office/drawing/2014/main" val="1948120991"/>
                  </a:ext>
                </a:extLst>
              </a:tr>
              <a:tr h="179705">
                <a:tc gridSpan="2">
                  <a:txBody>
                    <a:bodyPr/>
                    <a:lstStyle/>
                    <a:p>
                      <a:pPr>
                        <a:lnSpc>
                          <a:spcPct val="107000"/>
                        </a:lnSpc>
                        <a:spcAft>
                          <a:spcPts val="800"/>
                        </a:spcAft>
                        <a:buNone/>
                      </a:pPr>
                      <a:r>
                        <a:rPr lang="es-MX" sz="2000" dirty="0">
                          <a:effectLst/>
                          <a:latin typeface="Gotham" pitchFamily="50" charset="0"/>
                          <a:cs typeface="Gotham" pitchFamily="50" charset="0"/>
                        </a:rPr>
                        <a:t>Responsable Técnico*</a:t>
                      </a:r>
                      <a:endParaRPr lang="es-MX" sz="2000" dirty="0">
                        <a:effectLst/>
                        <a:latin typeface="Gotham" pitchFamily="50" charset="0"/>
                        <a:ea typeface="Calibri" panose="020F0502020204030204" pitchFamily="34" charset="0"/>
                        <a:cs typeface="Gotham" pitchFamily="50" charset="0"/>
                      </a:endParaRPr>
                    </a:p>
                  </a:txBody>
                  <a:tcPr marL="62865" marR="62865" marT="0" marB="0" anchor="ctr"/>
                </a:tc>
                <a:tc hMerge="1">
                  <a:txBody>
                    <a:bodyPr/>
                    <a:lstStyle/>
                    <a:p>
                      <a:endParaRPr lang="es-MX"/>
                    </a:p>
                  </a:txBody>
                  <a:tcPr/>
                </a:tc>
                <a:extLst>
                  <a:ext uri="{0D108BD9-81ED-4DB2-BD59-A6C34878D82A}">
                    <a16:rowId xmlns:a16="http://schemas.microsoft.com/office/drawing/2014/main" val="2462712342"/>
                  </a:ext>
                </a:extLst>
              </a:tr>
              <a:tr h="179705">
                <a:tc>
                  <a:txBody>
                    <a:bodyPr/>
                    <a:lstStyle/>
                    <a:p>
                      <a:pPr>
                        <a:lnSpc>
                          <a:spcPct val="107000"/>
                        </a:lnSpc>
                        <a:spcAft>
                          <a:spcPts val="800"/>
                        </a:spcAft>
                        <a:buNone/>
                      </a:pPr>
                      <a:r>
                        <a:rPr lang="es-MX" sz="1600">
                          <a:effectLst/>
                          <a:latin typeface="Gotham" pitchFamily="50" charset="0"/>
                          <a:cs typeface="Gotham" pitchFamily="50" charset="0"/>
                        </a:rPr>
                        <a:t>Nombre completo</a:t>
                      </a:r>
                      <a:endParaRPr lang="es-MX" sz="2000">
                        <a:effectLst/>
                        <a:latin typeface="Gotham" pitchFamily="50" charset="0"/>
                        <a:ea typeface="Calibri" panose="020F0502020204030204" pitchFamily="34" charset="0"/>
                        <a:cs typeface="Gotham" pitchFamily="50" charset="0"/>
                      </a:endParaRPr>
                    </a:p>
                  </a:txBody>
                  <a:tcPr marL="62865" marR="62865" marT="0" marB="0" anchor="ctr"/>
                </a:tc>
                <a:tc>
                  <a:txBody>
                    <a:bodyPr/>
                    <a:lstStyle/>
                    <a:p>
                      <a:pPr>
                        <a:lnSpc>
                          <a:spcPct val="107000"/>
                        </a:lnSpc>
                        <a:spcAft>
                          <a:spcPts val="800"/>
                        </a:spcAft>
                        <a:buNone/>
                      </a:pPr>
                      <a:r>
                        <a:rPr lang="es-MX" sz="1600">
                          <a:effectLst/>
                          <a:latin typeface="Gotham" pitchFamily="50" charset="0"/>
                          <a:cs typeface="Gotham" pitchFamily="50" charset="0"/>
                        </a:rPr>
                        <a:t> </a:t>
                      </a:r>
                      <a:endParaRPr lang="es-MX" sz="2000">
                        <a:effectLst/>
                        <a:latin typeface="Gotham" pitchFamily="50" charset="0"/>
                        <a:ea typeface="Calibri" panose="020F0502020204030204" pitchFamily="34" charset="0"/>
                        <a:cs typeface="Gotham" pitchFamily="50" charset="0"/>
                      </a:endParaRPr>
                    </a:p>
                  </a:txBody>
                  <a:tcPr marL="62865" marR="62865" marT="0" marB="0" anchor="ctr"/>
                </a:tc>
                <a:extLst>
                  <a:ext uri="{0D108BD9-81ED-4DB2-BD59-A6C34878D82A}">
                    <a16:rowId xmlns:a16="http://schemas.microsoft.com/office/drawing/2014/main" val="1941599244"/>
                  </a:ext>
                </a:extLst>
              </a:tr>
              <a:tr h="179705">
                <a:tc>
                  <a:txBody>
                    <a:bodyPr/>
                    <a:lstStyle/>
                    <a:p>
                      <a:pPr>
                        <a:lnSpc>
                          <a:spcPct val="107000"/>
                        </a:lnSpc>
                        <a:spcAft>
                          <a:spcPts val="800"/>
                        </a:spcAft>
                        <a:buNone/>
                      </a:pPr>
                      <a:r>
                        <a:rPr lang="es-MX" sz="1600">
                          <a:effectLst/>
                          <a:latin typeface="Gotham" pitchFamily="50" charset="0"/>
                          <a:cs typeface="Gotham" pitchFamily="50" charset="0"/>
                        </a:rPr>
                        <a:t>Teléfono (s)</a:t>
                      </a:r>
                      <a:endParaRPr lang="es-MX" sz="2000">
                        <a:effectLst/>
                        <a:latin typeface="Gotham" pitchFamily="50" charset="0"/>
                        <a:ea typeface="Calibri" panose="020F0502020204030204" pitchFamily="34" charset="0"/>
                        <a:cs typeface="Gotham" pitchFamily="50" charset="0"/>
                      </a:endParaRPr>
                    </a:p>
                  </a:txBody>
                  <a:tcPr marL="62865" marR="62865" marT="0" marB="0" anchor="ctr"/>
                </a:tc>
                <a:tc>
                  <a:txBody>
                    <a:bodyPr/>
                    <a:lstStyle/>
                    <a:p>
                      <a:pPr>
                        <a:lnSpc>
                          <a:spcPct val="107000"/>
                        </a:lnSpc>
                        <a:spcAft>
                          <a:spcPts val="800"/>
                        </a:spcAft>
                        <a:buNone/>
                      </a:pPr>
                      <a:r>
                        <a:rPr lang="es-MX" sz="1600">
                          <a:effectLst/>
                          <a:latin typeface="Gotham" pitchFamily="50" charset="0"/>
                          <a:cs typeface="Gotham" pitchFamily="50" charset="0"/>
                        </a:rPr>
                        <a:t> </a:t>
                      </a:r>
                      <a:endParaRPr lang="es-MX" sz="2000">
                        <a:effectLst/>
                        <a:latin typeface="Gotham" pitchFamily="50" charset="0"/>
                        <a:ea typeface="Calibri" panose="020F0502020204030204" pitchFamily="34" charset="0"/>
                        <a:cs typeface="Gotham" pitchFamily="50" charset="0"/>
                      </a:endParaRPr>
                    </a:p>
                  </a:txBody>
                  <a:tcPr marL="62865" marR="62865" marT="0" marB="0" anchor="ctr"/>
                </a:tc>
                <a:extLst>
                  <a:ext uri="{0D108BD9-81ED-4DB2-BD59-A6C34878D82A}">
                    <a16:rowId xmlns:a16="http://schemas.microsoft.com/office/drawing/2014/main" val="2898460466"/>
                  </a:ext>
                </a:extLst>
              </a:tr>
              <a:tr h="179705">
                <a:tc>
                  <a:txBody>
                    <a:bodyPr/>
                    <a:lstStyle/>
                    <a:p>
                      <a:pPr>
                        <a:lnSpc>
                          <a:spcPct val="107000"/>
                        </a:lnSpc>
                        <a:spcAft>
                          <a:spcPts val="800"/>
                        </a:spcAft>
                        <a:buNone/>
                      </a:pPr>
                      <a:r>
                        <a:rPr lang="es-MX" sz="1600">
                          <a:effectLst/>
                          <a:latin typeface="Gotham" pitchFamily="50" charset="0"/>
                          <a:cs typeface="Gotham" pitchFamily="50" charset="0"/>
                        </a:rPr>
                        <a:t>Correo electrónico</a:t>
                      </a:r>
                      <a:endParaRPr lang="es-MX" sz="2000">
                        <a:effectLst/>
                        <a:latin typeface="Gotham" pitchFamily="50" charset="0"/>
                        <a:ea typeface="Calibri" panose="020F0502020204030204" pitchFamily="34" charset="0"/>
                        <a:cs typeface="Gotham" pitchFamily="50" charset="0"/>
                      </a:endParaRPr>
                    </a:p>
                  </a:txBody>
                  <a:tcPr marL="62865" marR="62865" marT="0" marB="0" anchor="ctr"/>
                </a:tc>
                <a:tc>
                  <a:txBody>
                    <a:bodyPr/>
                    <a:lstStyle/>
                    <a:p>
                      <a:pPr>
                        <a:lnSpc>
                          <a:spcPct val="107000"/>
                        </a:lnSpc>
                        <a:spcAft>
                          <a:spcPts val="800"/>
                        </a:spcAft>
                        <a:buNone/>
                      </a:pPr>
                      <a:r>
                        <a:rPr lang="es-MX" sz="1600" dirty="0">
                          <a:effectLst/>
                          <a:latin typeface="Gotham" pitchFamily="50" charset="0"/>
                          <a:cs typeface="Gotham" pitchFamily="50" charset="0"/>
                        </a:rPr>
                        <a:t> </a:t>
                      </a:r>
                      <a:endParaRPr lang="es-MX" sz="2000" dirty="0">
                        <a:effectLst/>
                        <a:latin typeface="Gotham" pitchFamily="50" charset="0"/>
                        <a:ea typeface="Calibri" panose="020F0502020204030204" pitchFamily="34" charset="0"/>
                        <a:cs typeface="Gotham" pitchFamily="50" charset="0"/>
                      </a:endParaRPr>
                    </a:p>
                  </a:txBody>
                  <a:tcPr marL="62865" marR="62865" marT="0" marB="0" anchor="ctr"/>
                </a:tc>
                <a:extLst>
                  <a:ext uri="{0D108BD9-81ED-4DB2-BD59-A6C34878D82A}">
                    <a16:rowId xmlns:a16="http://schemas.microsoft.com/office/drawing/2014/main" val="2713682237"/>
                  </a:ext>
                </a:extLst>
              </a:tr>
            </a:tbl>
          </a:graphicData>
        </a:graphic>
      </p:graphicFrame>
      <p:sp>
        <p:nvSpPr>
          <p:cNvPr id="5" name="CuadroTexto 4">
            <a:extLst>
              <a:ext uri="{FF2B5EF4-FFF2-40B4-BE49-F238E27FC236}">
                <a16:creationId xmlns:a16="http://schemas.microsoft.com/office/drawing/2014/main" id="{76D0DF68-580B-494B-4019-3FDB75B6E924}"/>
              </a:ext>
            </a:extLst>
          </p:cNvPr>
          <p:cNvSpPr txBox="1"/>
          <p:nvPr/>
        </p:nvSpPr>
        <p:spPr>
          <a:xfrm>
            <a:off x="611749" y="5328380"/>
            <a:ext cx="10734538" cy="670696"/>
          </a:xfrm>
          <a:prstGeom prst="rect">
            <a:avLst/>
          </a:prstGeom>
          <a:noFill/>
        </p:spPr>
        <p:txBody>
          <a:bodyPr wrap="square">
            <a:spAutoFit/>
          </a:bodyPr>
          <a:lstStyle/>
          <a:p>
            <a:pPr algn="just">
              <a:lnSpc>
                <a:spcPct val="107000"/>
              </a:lnSpc>
              <a:spcAft>
                <a:spcPts val="800"/>
              </a:spcAft>
              <a:buNone/>
            </a:pPr>
            <a:r>
              <a:rPr lang="es-MX" sz="1800" b="1" dirty="0">
                <a:effectLst/>
                <a:latin typeface="Gotham" pitchFamily="50" charset="0"/>
                <a:ea typeface="HelveticaNeueLT Std"/>
                <a:cs typeface="Times New Roman" panose="02020603050405020304" pitchFamily="18" charset="0"/>
              </a:rPr>
              <a:t>*Nota: </a:t>
            </a:r>
            <a:r>
              <a:rPr lang="es-MX" sz="1800" dirty="0">
                <a:effectLst/>
                <a:latin typeface="Gotham" pitchFamily="50" charset="0"/>
                <a:ea typeface="HelveticaNeueLT Std"/>
                <a:cs typeface="Times New Roman" panose="02020603050405020304" pitchFamily="18" charset="0"/>
              </a:rPr>
              <a:t>Los responsables Técnico y Administrativo, no deberán ser la misma persona y deberán estar laborando en la empresa. </a:t>
            </a:r>
            <a:endParaRPr lang="es-MX"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21659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hlinkClick r:id="rId2" action="ppaction://hlinksldjump"/>
            <a:extLst>
              <a:ext uri="{FF2B5EF4-FFF2-40B4-BE49-F238E27FC236}">
                <a16:creationId xmlns:a16="http://schemas.microsoft.com/office/drawing/2014/main" id="{8A369A51-3DA8-D3F3-0479-A5680764F9BA}"/>
              </a:ext>
            </a:extLst>
          </p:cNvPr>
          <p:cNvSpPr txBox="1">
            <a:spLocks/>
          </p:cNvSpPr>
          <p:nvPr/>
        </p:nvSpPr>
        <p:spPr>
          <a:xfrm>
            <a:off x="495836" y="414621"/>
            <a:ext cx="4900409" cy="493935"/>
          </a:xfrm>
          <a:prstGeom prst="rect">
            <a:avLst/>
          </a:prstGeom>
        </p:spPr>
        <p:style>
          <a:lnRef idx="1">
            <a:schemeClr val="accent2"/>
          </a:lnRef>
          <a:fillRef idx="2">
            <a:schemeClr val="accent2"/>
          </a:fillRef>
          <a:effectRef idx="1">
            <a:schemeClr val="accent2"/>
          </a:effectRef>
          <a:fontRef idx="minor">
            <a:schemeClr val="dk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800" dirty="0">
                <a:latin typeface="Gotham" pitchFamily="50" charset="0"/>
                <a:cs typeface="Gotham" pitchFamily="50" charset="0"/>
              </a:rPr>
              <a:t>Sector estratégico</a:t>
            </a:r>
          </a:p>
        </p:txBody>
      </p:sp>
      <p:graphicFrame>
        <p:nvGraphicFramePr>
          <p:cNvPr id="6" name="Tabla 5">
            <a:extLst>
              <a:ext uri="{FF2B5EF4-FFF2-40B4-BE49-F238E27FC236}">
                <a16:creationId xmlns:a16="http://schemas.microsoft.com/office/drawing/2014/main" id="{DC9E9327-7AEA-C7EB-425F-D0B31FD79183}"/>
              </a:ext>
            </a:extLst>
          </p:cNvPr>
          <p:cNvGraphicFramePr>
            <a:graphicFrameLocks noGrp="1"/>
          </p:cNvGraphicFramePr>
          <p:nvPr>
            <p:extLst>
              <p:ext uri="{D42A27DB-BD31-4B8C-83A1-F6EECF244321}">
                <p14:modId xmlns:p14="http://schemas.microsoft.com/office/powerpoint/2010/main" val="2268362228"/>
              </p:ext>
            </p:extLst>
          </p:nvPr>
        </p:nvGraphicFramePr>
        <p:xfrm>
          <a:off x="540913" y="1118911"/>
          <a:ext cx="3103808" cy="5562600"/>
        </p:xfrm>
        <a:graphic>
          <a:graphicData uri="http://schemas.openxmlformats.org/drawingml/2006/table">
            <a:tbl>
              <a:tblPr firstRow="1" bandRow="1">
                <a:tableStyleId>{0E3FDE45-AF77-4B5C-9715-49D594BDF05E}</a:tableStyleId>
              </a:tblPr>
              <a:tblGrid>
                <a:gridCol w="3103808">
                  <a:extLst>
                    <a:ext uri="{9D8B030D-6E8A-4147-A177-3AD203B41FA5}">
                      <a16:colId xmlns:a16="http://schemas.microsoft.com/office/drawing/2014/main" val="3807115972"/>
                    </a:ext>
                  </a:extLst>
                </a:gridCol>
              </a:tblGrid>
              <a:tr h="370840">
                <a:tc>
                  <a:txBody>
                    <a:bodyPr/>
                    <a:lstStyle/>
                    <a:p>
                      <a:r>
                        <a:rPr lang="es-MX" dirty="0"/>
                        <a:t>- Aeronáutica</a:t>
                      </a:r>
                    </a:p>
                  </a:txBody>
                  <a:tcPr/>
                </a:tc>
                <a:extLst>
                  <a:ext uri="{0D108BD9-81ED-4DB2-BD59-A6C34878D82A}">
                    <a16:rowId xmlns:a16="http://schemas.microsoft.com/office/drawing/2014/main" val="3034246787"/>
                  </a:ext>
                </a:extLst>
              </a:tr>
              <a:tr h="370840">
                <a:tc>
                  <a:txBody>
                    <a:bodyPr/>
                    <a:lstStyle/>
                    <a:p>
                      <a:r>
                        <a:rPr lang="es-MX" dirty="0"/>
                        <a:t>- Agroindustria</a:t>
                      </a:r>
                    </a:p>
                  </a:txBody>
                  <a:tcPr/>
                </a:tc>
                <a:extLst>
                  <a:ext uri="{0D108BD9-81ED-4DB2-BD59-A6C34878D82A}">
                    <a16:rowId xmlns:a16="http://schemas.microsoft.com/office/drawing/2014/main" val="2324644329"/>
                  </a:ext>
                </a:extLst>
              </a:tr>
              <a:tr h="370840">
                <a:tc>
                  <a:txBody>
                    <a:bodyPr/>
                    <a:lstStyle/>
                    <a:p>
                      <a:r>
                        <a:rPr lang="es-MX" dirty="0"/>
                        <a:t>- Agroindustria</a:t>
                      </a:r>
                    </a:p>
                  </a:txBody>
                  <a:tcPr/>
                </a:tc>
                <a:extLst>
                  <a:ext uri="{0D108BD9-81ED-4DB2-BD59-A6C34878D82A}">
                    <a16:rowId xmlns:a16="http://schemas.microsoft.com/office/drawing/2014/main" val="844645078"/>
                  </a:ext>
                </a:extLst>
              </a:tr>
              <a:tr h="370840">
                <a:tc>
                  <a:txBody>
                    <a:bodyPr/>
                    <a:lstStyle/>
                    <a:p>
                      <a:r>
                        <a:rPr lang="es-MX" dirty="0"/>
                        <a:t>- Agro tecnología</a:t>
                      </a:r>
                    </a:p>
                  </a:txBody>
                  <a:tcPr/>
                </a:tc>
                <a:extLst>
                  <a:ext uri="{0D108BD9-81ED-4DB2-BD59-A6C34878D82A}">
                    <a16:rowId xmlns:a16="http://schemas.microsoft.com/office/drawing/2014/main" val="945277341"/>
                  </a:ext>
                </a:extLst>
              </a:tr>
              <a:tr h="370840">
                <a:tc>
                  <a:txBody>
                    <a:bodyPr/>
                    <a:lstStyle/>
                    <a:p>
                      <a:r>
                        <a:rPr lang="es-MX" dirty="0"/>
                        <a:t>- Alimentos</a:t>
                      </a:r>
                    </a:p>
                  </a:txBody>
                  <a:tcPr/>
                </a:tc>
                <a:extLst>
                  <a:ext uri="{0D108BD9-81ED-4DB2-BD59-A6C34878D82A}">
                    <a16:rowId xmlns:a16="http://schemas.microsoft.com/office/drawing/2014/main" val="2091754021"/>
                  </a:ext>
                </a:extLst>
              </a:tr>
              <a:tr h="370840">
                <a:tc>
                  <a:txBody>
                    <a:bodyPr/>
                    <a:lstStyle/>
                    <a:p>
                      <a:r>
                        <a:rPr lang="es-MX" dirty="0"/>
                        <a:t>- Ambiental</a:t>
                      </a:r>
                    </a:p>
                  </a:txBody>
                  <a:tcPr/>
                </a:tc>
                <a:extLst>
                  <a:ext uri="{0D108BD9-81ED-4DB2-BD59-A6C34878D82A}">
                    <a16:rowId xmlns:a16="http://schemas.microsoft.com/office/drawing/2014/main" val="2401036384"/>
                  </a:ext>
                </a:extLst>
              </a:tr>
              <a:tr h="370840">
                <a:tc>
                  <a:txBody>
                    <a:bodyPr/>
                    <a:lstStyle/>
                    <a:p>
                      <a:r>
                        <a:rPr lang="es-MX" dirty="0"/>
                        <a:t>- Arquitectura</a:t>
                      </a:r>
                    </a:p>
                  </a:txBody>
                  <a:tcPr/>
                </a:tc>
                <a:extLst>
                  <a:ext uri="{0D108BD9-81ED-4DB2-BD59-A6C34878D82A}">
                    <a16:rowId xmlns:a16="http://schemas.microsoft.com/office/drawing/2014/main" val="1766945067"/>
                  </a:ext>
                </a:extLst>
              </a:tr>
              <a:tr h="370840">
                <a:tc>
                  <a:txBody>
                    <a:bodyPr/>
                    <a:lstStyle/>
                    <a:p>
                      <a:r>
                        <a:rPr lang="es-MX" dirty="0"/>
                        <a:t>- Automotriz</a:t>
                      </a:r>
                    </a:p>
                  </a:txBody>
                  <a:tcPr/>
                </a:tc>
                <a:extLst>
                  <a:ext uri="{0D108BD9-81ED-4DB2-BD59-A6C34878D82A}">
                    <a16:rowId xmlns:a16="http://schemas.microsoft.com/office/drawing/2014/main" val="2454792592"/>
                  </a:ext>
                </a:extLst>
              </a:tr>
              <a:tr h="370840">
                <a:tc>
                  <a:txBody>
                    <a:bodyPr/>
                    <a:lstStyle/>
                    <a:p>
                      <a:r>
                        <a:rPr lang="es-MX" dirty="0"/>
                        <a:t>- Bio ingeniería</a:t>
                      </a:r>
                    </a:p>
                  </a:txBody>
                  <a:tcPr/>
                </a:tc>
                <a:extLst>
                  <a:ext uri="{0D108BD9-81ED-4DB2-BD59-A6C34878D82A}">
                    <a16:rowId xmlns:a16="http://schemas.microsoft.com/office/drawing/2014/main" val="731583261"/>
                  </a:ext>
                </a:extLst>
              </a:tr>
              <a:tr h="370840">
                <a:tc>
                  <a:txBody>
                    <a:bodyPr/>
                    <a:lstStyle/>
                    <a:p>
                      <a:r>
                        <a:rPr lang="es-MX" dirty="0"/>
                        <a:t>- Biotecnología</a:t>
                      </a:r>
                    </a:p>
                  </a:txBody>
                  <a:tcPr/>
                </a:tc>
                <a:extLst>
                  <a:ext uri="{0D108BD9-81ED-4DB2-BD59-A6C34878D82A}">
                    <a16:rowId xmlns:a16="http://schemas.microsoft.com/office/drawing/2014/main" val="2489896258"/>
                  </a:ext>
                </a:extLst>
              </a:tr>
              <a:tr h="370840">
                <a:tc>
                  <a:txBody>
                    <a:bodyPr/>
                    <a:lstStyle/>
                    <a:p>
                      <a:r>
                        <a:rPr lang="es-MX" dirty="0"/>
                        <a:t>- Desarrollo sustentable</a:t>
                      </a:r>
                    </a:p>
                  </a:txBody>
                  <a:tcPr/>
                </a:tc>
                <a:extLst>
                  <a:ext uri="{0D108BD9-81ED-4DB2-BD59-A6C34878D82A}">
                    <a16:rowId xmlns:a16="http://schemas.microsoft.com/office/drawing/2014/main" val="255775182"/>
                  </a:ext>
                </a:extLst>
              </a:tr>
              <a:tr h="370840">
                <a:tc>
                  <a:txBody>
                    <a:bodyPr/>
                    <a:lstStyle/>
                    <a:p>
                      <a:r>
                        <a:rPr lang="es-MX" dirty="0"/>
                        <a:t>- Dispositivos médicos</a:t>
                      </a:r>
                    </a:p>
                  </a:txBody>
                  <a:tcPr/>
                </a:tc>
                <a:extLst>
                  <a:ext uri="{0D108BD9-81ED-4DB2-BD59-A6C34878D82A}">
                    <a16:rowId xmlns:a16="http://schemas.microsoft.com/office/drawing/2014/main" val="4186748976"/>
                  </a:ext>
                </a:extLst>
              </a:tr>
              <a:tr h="370840">
                <a:tc>
                  <a:txBody>
                    <a:bodyPr/>
                    <a:lstStyle/>
                    <a:p>
                      <a:r>
                        <a:rPr lang="es-MX" dirty="0"/>
                        <a:t>- Economía circular</a:t>
                      </a:r>
                    </a:p>
                  </a:txBody>
                  <a:tcPr/>
                </a:tc>
                <a:extLst>
                  <a:ext uri="{0D108BD9-81ED-4DB2-BD59-A6C34878D82A}">
                    <a16:rowId xmlns:a16="http://schemas.microsoft.com/office/drawing/2014/main" val="3010557159"/>
                  </a:ext>
                </a:extLst>
              </a:tr>
              <a:tr h="370840">
                <a:tc>
                  <a:txBody>
                    <a:bodyPr/>
                    <a:lstStyle/>
                    <a:p>
                      <a:r>
                        <a:rPr lang="es-MX" dirty="0"/>
                        <a:t>- Eficiencia energética</a:t>
                      </a:r>
                    </a:p>
                  </a:txBody>
                  <a:tcPr/>
                </a:tc>
                <a:extLst>
                  <a:ext uri="{0D108BD9-81ED-4DB2-BD59-A6C34878D82A}">
                    <a16:rowId xmlns:a16="http://schemas.microsoft.com/office/drawing/2014/main" val="2416186145"/>
                  </a:ext>
                </a:extLst>
              </a:tr>
              <a:tr h="370840">
                <a:tc>
                  <a:txBody>
                    <a:bodyPr/>
                    <a:lstStyle/>
                    <a:p>
                      <a:r>
                        <a:rPr lang="es-MX" dirty="0"/>
                        <a:t>- Electromecánica</a:t>
                      </a:r>
                    </a:p>
                  </a:txBody>
                  <a:tcPr/>
                </a:tc>
                <a:extLst>
                  <a:ext uri="{0D108BD9-81ED-4DB2-BD59-A6C34878D82A}">
                    <a16:rowId xmlns:a16="http://schemas.microsoft.com/office/drawing/2014/main" val="914036277"/>
                  </a:ext>
                </a:extLst>
              </a:tr>
            </a:tbl>
          </a:graphicData>
        </a:graphic>
      </p:graphicFrame>
      <p:graphicFrame>
        <p:nvGraphicFramePr>
          <p:cNvPr id="7" name="Tabla 6">
            <a:extLst>
              <a:ext uri="{FF2B5EF4-FFF2-40B4-BE49-F238E27FC236}">
                <a16:creationId xmlns:a16="http://schemas.microsoft.com/office/drawing/2014/main" id="{4DD58BF9-5424-75E9-A0AC-91AE58013D8E}"/>
              </a:ext>
            </a:extLst>
          </p:cNvPr>
          <p:cNvGraphicFramePr>
            <a:graphicFrameLocks noGrp="1"/>
          </p:cNvGraphicFramePr>
          <p:nvPr>
            <p:extLst>
              <p:ext uri="{D42A27DB-BD31-4B8C-83A1-F6EECF244321}">
                <p14:modId xmlns:p14="http://schemas.microsoft.com/office/powerpoint/2010/main" val="2853692195"/>
              </p:ext>
            </p:extLst>
          </p:nvPr>
        </p:nvGraphicFramePr>
        <p:xfrm>
          <a:off x="4314421" y="1725971"/>
          <a:ext cx="2846234" cy="4348480"/>
        </p:xfrm>
        <a:graphic>
          <a:graphicData uri="http://schemas.openxmlformats.org/drawingml/2006/table">
            <a:tbl>
              <a:tblPr firstRow="1" bandRow="1">
                <a:tableStyleId>{0E3FDE45-AF77-4B5C-9715-49D594BDF05E}</a:tableStyleId>
              </a:tblPr>
              <a:tblGrid>
                <a:gridCol w="2846234">
                  <a:extLst>
                    <a:ext uri="{9D8B030D-6E8A-4147-A177-3AD203B41FA5}">
                      <a16:colId xmlns:a16="http://schemas.microsoft.com/office/drawing/2014/main" val="380711597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800" dirty="0"/>
                        <a:t>- Farmacéutica</a:t>
                      </a:r>
                    </a:p>
                  </a:txBody>
                  <a:tcPr/>
                </a:tc>
                <a:extLst>
                  <a:ext uri="{0D108BD9-81ED-4DB2-BD59-A6C34878D82A}">
                    <a16:rowId xmlns:a16="http://schemas.microsoft.com/office/drawing/2014/main" val="303424678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800" dirty="0">
                          <a:latin typeface="Gotham" pitchFamily="50" charset="0"/>
                          <a:cs typeface="Gotham" pitchFamily="50" charset="0"/>
                        </a:rPr>
                        <a:t>- Gestión integral de residuos</a:t>
                      </a:r>
                    </a:p>
                  </a:txBody>
                  <a:tcPr/>
                </a:tc>
                <a:extLst>
                  <a:ext uri="{0D108BD9-81ED-4DB2-BD59-A6C34878D82A}">
                    <a16:rowId xmlns:a16="http://schemas.microsoft.com/office/drawing/2014/main" val="232464432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800" dirty="0">
                          <a:latin typeface="Gotham" pitchFamily="50" charset="0"/>
                          <a:cs typeface="Gotham" pitchFamily="50" charset="0"/>
                        </a:rPr>
                        <a:t>- Informática</a:t>
                      </a:r>
                    </a:p>
                  </a:txBody>
                  <a:tcPr/>
                </a:tc>
                <a:extLst>
                  <a:ext uri="{0D108BD9-81ED-4DB2-BD59-A6C34878D82A}">
                    <a16:rowId xmlns:a16="http://schemas.microsoft.com/office/drawing/2014/main" val="8446450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800" dirty="0">
                          <a:latin typeface="Gotham" pitchFamily="50" charset="0"/>
                          <a:cs typeface="Gotham" pitchFamily="50" charset="0"/>
                        </a:rPr>
                        <a:t>- Inteligencia artificial</a:t>
                      </a:r>
                    </a:p>
                  </a:txBody>
                  <a:tcPr/>
                </a:tc>
                <a:extLst>
                  <a:ext uri="{0D108BD9-81ED-4DB2-BD59-A6C34878D82A}">
                    <a16:rowId xmlns:a16="http://schemas.microsoft.com/office/drawing/2014/main" val="94527734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800" dirty="0">
                          <a:latin typeface="Gotham" pitchFamily="50" charset="0"/>
                          <a:cs typeface="Gotham" pitchFamily="50" charset="0"/>
                        </a:rPr>
                        <a:t>- Logística</a:t>
                      </a:r>
                    </a:p>
                  </a:txBody>
                  <a:tcPr/>
                </a:tc>
                <a:extLst>
                  <a:ext uri="{0D108BD9-81ED-4DB2-BD59-A6C34878D82A}">
                    <a16:rowId xmlns:a16="http://schemas.microsoft.com/office/drawing/2014/main" val="209175402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800" dirty="0">
                          <a:latin typeface="Gotham" pitchFamily="50" charset="0"/>
                          <a:cs typeface="Gotham" pitchFamily="50" charset="0"/>
                        </a:rPr>
                        <a:t>- Manufactura</a:t>
                      </a:r>
                    </a:p>
                  </a:txBody>
                  <a:tcPr/>
                </a:tc>
                <a:extLst>
                  <a:ext uri="{0D108BD9-81ED-4DB2-BD59-A6C34878D82A}">
                    <a16:rowId xmlns:a16="http://schemas.microsoft.com/office/drawing/2014/main" val="240103638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800" dirty="0">
                          <a:latin typeface="Gotham" pitchFamily="50" charset="0"/>
                          <a:cs typeface="Gotham" pitchFamily="50" charset="0"/>
                        </a:rPr>
                        <a:t>- Mecatrónica</a:t>
                      </a:r>
                    </a:p>
                  </a:txBody>
                  <a:tcPr/>
                </a:tc>
                <a:extLst>
                  <a:ext uri="{0D108BD9-81ED-4DB2-BD59-A6C34878D82A}">
                    <a16:rowId xmlns:a16="http://schemas.microsoft.com/office/drawing/2014/main" val="176694506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800" dirty="0">
                          <a:latin typeface="Gotham" pitchFamily="50" charset="0"/>
                          <a:cs typeface="Gotham" pitchFamily="50" charset="0"/>
                        </a:rPr>
                        <a:t>- Movilidad</a:t>
                      </a:r>
                    </a:p>
                  </a:txBody>
                  <a:tcPr/>
                </a:tc>
                <a:extLst>
                  <a:ext uri="{0D108BD9-81ED-4DB2-BD59-A6C34878D82A}">
                    <a16:rowId xmlns:a16="http://schemas.microsoft.com/office/drawing/2014/main" val="245479259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800" dirty="0">
                          <a:latin typeface="Gotham" pitchFamily="50" charset="0"/>
                          <a:cs typeface="Gotham" pitchFamily="50" charset="0"/>
                        </a:rPr>
                        <a:t>- Plásticos</a:t>
                      </a:r>
                    </a:p>
                  </a:txBody>
                  <a:tcPr/>
                </a:tc>
                <a:extLst>
                  <a:ext uri="{0D108BD9-81ED-4DB2-BD59-A6C34878D82A}">
                    <a16:rowId xmlns:a16="http://schemas.microsoft.com/office/drawing/2014/main" val="73158326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800" dirty="0">
                          <a:latin typeface="Gotham" pitchFamily="50" charset="0"/>
                          <a:cs typeface="Gotham" pitchFamily="50" charset="0"/>
                        </a:rPr>
                        <a:t>- Química</a:t>
                      </a:r>
                    </a:p>
                  </a:txBody>
                  <a:tcPr/>
                </a:tc>
                <a:extLst>
                  <a:ext uri="{0D108BD9-81ED-4DB2-BD59-A6C34878D82A}">
                    <a16:rowId xmlns:a16="http://schemas.microsoft.com/office/drawing/2014/main" val="248989625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800" dirty="0">
                          <a:latin typeface="Gotham" pitchFamily="50" charset="0"/>
                          <a:cs typeface="Gotham" pitchFamily="50" charset="0"/>
                        </a:rPr>
                        <a:t>- Robótica</a:t>
                      </a:r>
                    </a:p>
                  </a:txBody>
                  <a:tcPr/>
                </a:tc>
                <a:extLst>
                  <a:ext uri="{0D108BD9-81ED-4DB2-BD59-A6C34878D82A}">
                    <a16:rowId xmlns:a16="http://schemas.microsoft.com/office/drawing/2014/main" val="255775182"/>
                  </a:ext>
                </a:extLst>
              </a:tr>
            </a:tbl>
          </a:graphicData>
        </a:graphic>
      </p:graphicFrame>
      <p:graphicFrame>
        <p:nvGraphicFramePr>
          <p:cNvPr id="8" name="Tabla 7">
            <a:extLst>
              <a:ext uri="{FF2B5EF4-FFF2-40B4-BE49-F238E27FC236}">
                <a16:creationId xmlns:a16="http://schemas.microsoft.com/office/drawing/2014/main" id="{F803483E-FE77-D198-73F3-91A34530CDDE}"/>
              </a:ext>
            </a:extLst>
          </p:cNvPr>
          <p:cNvGraphicFramePr>
            <a:graphicFrameLocks noGrp="1"/>
          </p:cNvGraphicFramePr>
          <p:nvPr>
            <p:extLst>
              <p:ext uri="{D42A27DB-BD31-4B8C-83A1-F6EECF244321}">
                <p14:modId xmlns:p14="http://schemas.microsoft.com/office/powerpoint/2010/main" val="426109642"/>
              </p:ext>
            </p:extLst>
          </p:nvPr>
        </p:nvGraphicFramePr>
        <p:xfrm>
          <a:off x="7723032" y="2552700"/>
          <a:ext cx="3131713" cy="1752600"/>
        </p:xfrm>
        <a:graphic>
          <a:graphicData uri="http://schemas.openxmlformats.org/drawingml/2006/table">
            <a:tbl>
              <a:tblPr firstRow="1" bandRow="1">
                <a:tableStyleId>{0E3FDE45-AF77-4B5C-9715-49D594BDF05E}</a:tableStyleId>
              </a:tblPr>
              <a:tblGrid>
                <a:gridCol w="3131713">
                  <a:extLst>
                    <a:ext uri="{9D8B030D-6E8A-4147-A177-3AD203B41FA5}">
                      <a16:colId xmlns:a16="http://schemas.microsoft.com/office/drawing/2014/main" val="380711597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800" dirty="0">
                          <a:latin typeface="Gotham" pitchFamily="50" charset="0"/>
                          <a:cs typeface="Gotham" pitchFamily="50" charset="0"/>
                        </a:rPr>
                        <a:t>- Salud</a:t>
                      </a:r>
                    </a:p>
                  </a:txBody>
                  <a:tcPr/>
                </a:tc>
                <a:extLst>
                  <a:ext uri="{0D108BD9-81ED-4DB2-BD59-A6C34878D82A}">
                    <a16:rowId xmlns:a16="http://schemas.microsoft.com/office/drawing/2014/main" val="303424678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800" dirty="0">
                          <a:latin typeface="Gotham" pitchFamily="50" charset="0"/>
                          <a:cs typeface="Gotham" pitchFamily="50" charset="0"/>
                        </a:rPr>
                        <a:t>- Tecnologías para el agua</a:t>
                      </a:r>
                    </a:p>
                  </a:txBody>
                  <a:tcPr/>
                </a:tc>
                <a:extLst>
                  <a:ext uri="{0D108BD9-81ED-4DB2-BD59-A6C34878D82A}">
                    <a16:rowId xmlns:a16="http://schemas.microsoft.com/office/drawing/2014/main" val="232464432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800" dirty="0">
                          <a:latin typeface="Gotham" pitchFamily="50" charset="0"/>
                          <a:cs typeface="Gotham" pitchFamily="50" charset="0"/>
                        </a:rPr>
                        <a:t>- Telecomunicaciones</a:t>
                      </a:r>
                    </a:p>
                  </a:txBody>
                  <a:tcPr/>
                </a:tc>
                <a:extLst>
                  <a:ext uri="{0D108BD9-81ED-4DB2-BD59-A6C34878D82A}">
                    <a16:rowId xmlns:a16="http://schemas.microsoft.com/office/drawing/2014/main" val="8446450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800" dirty="0">
                          <a:latin typeface="Gotham" pitchFamily="50" charset="0"/>
                          <a:cs typeface="Gotham" pitchFamily="50" charset="0"/>
                        </a:rPr>
                        <a:t>- Textil</a:t>
                      </a:r>
                    </a:p>
                  </a:txBody>
                  <a:tcPr/>
                </a:tc>
                <a:extLst>
                  <a:ext uri="{0D108BD9-81ED-4DB2-BD59-A6C34878D82A}">
                    <a16:rowId xmlns:a16="http://schemas.microsoft.com/office/drawing/2014/main" val="945277341"/>
                  </a:ext>
                </a:extLst>
              </a:tr>
            </a:tbl>
          </a:graphicData>
        </a:graphic>
      </p:graphicFrame>
    </p:spTree>
    <p:extLst>
      <p:ext uri="{BB962C8B-B14F-4D97-AF65-F5344CB8AC3E}">
        <p14:creationId xmlns:p14="http://schemas.microsoft.com/office/powerpoint/2010/main" val="747066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hlinkClick r:id="rId2" action="ppaction://hlinksldjump"/>
            <a:extLst>
              <a:ext uri="{FF2B5EF4-FFF2-40B4-BE49-F238E27FC236}">
                <a16:creationId xmlns:a16="http://schemas.microsoft.com/office/drawing/2014/main" id="{6C2C8498-2720-EDC5-A9A1-AB949A60C95C}"/>
              </a:ext>
            </a:extLst>
          </p:cNvPr>
          <p:cNvSpPr txBox="1">
            <a:spLocks/>
          </p:cNvSpPr>
          <p:nvPr/>
        </p:nvSpPr>
        <p:spPr>
          <a:xfrm>
            <a:off x="482958" y="509091"/>
            <a:ext cx="4900409" cy="493935"/>
          </a:xfrm>
          <a:prstGeom prst="rect">
            <a:avLst/>
          </a:prstGeom>
        </p:spPr>
        <p:style>
          <a:lnRef idx="1">
            <a:schemeClr val="accent2"/>
          </a:lnRef>
          <a:fillRef idx="2">
            <a:schemeClr val="accent2"/>
          </a:fillRef>
          <a:effectRef idx="1">
            <a:schemeClr val="accent2"/>
          </a:effectRef>
          <a:fontRef idx="minor">
            <a:schemeClr val="dk1"/>
          </a:fontRef>
        </p:style>
        <p:txBody>
          <a:bodyP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800" dirty="0">
                <a:latin typeface="Gotham" pitchFamily="50" charset="0"/>
                <a:cs typeface="Gotham" pitchFamily="50" charset="0"/>
              </a:rPr>
              <a:t>Modalidad de participación</a:t>
            </a:r>
          </a:p>
        </p:txBody>
      </p:sp>
      <p:sp>
        <p:nvSpPr>
          <p:cNvPr id="4" name="Título 1">
            <a:hlinkClick r:id="rId3" action="ppaction://hlinksldjump"/>
            <a:extLst>
              <a:ext uri="{FF2B5EF4-FFF2-40B4-BE49-F238E27FC236}">
                <a16:creationId xmlns:a16="http://schemas.microsoft.com/office/drawing/2014/main" id="{DADA8466-4155-706B-5629-E2668EF06D1C}"/>
              </a:ext>
            </a:extLst>
          </p:cNvPr>
          <p:cNvSpPr txBox="1">
            <a:spLocks/>
          </p:cNvSpPr>
          <p:nvPr/>
        </p:nvSpPr>
        <p:spPr>
          <a:xfrm>
            <a:off x="684728" y="1475110"/>
            <a:ext cx="5411272" cy="493935"/>
          </a:xfrm>
          <a:prstGeom prst="rect">
            <a:avLst/>
          </a:prstGeom>
        </p:spPr>
        <p:style>
          <a:lnRef idx="2">
            <a:schemeClr val="accent2"/>
          </a:lnRef>
          <a:fillRef idx="1">
            <a:schemeClr val="lt1"/>
          </a:fillRef>
          <a:effectRef idx="0">
            <a:schemeClr val="accent2"/>
          </a:effectRef>
          <a:fontRef idx="minor">
            <a:schemeClr val="dk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400" dirty="0">
                <a:latin typeface="Gotham" pitchFamily="50" charset="0"/>
                <a:cs typeface="Gotham" pitchFamily="50" charset="0"/>
              </a:rPr>
              <a:t>Incorporación de Profesionistas</a:t>
            </a:r>
          </a:p>
        </p:txBody>
      </p:sp>
      <p:sp>
        <p:nvSpPr>
          <p:cNvPr id="5" name="Título 1">
            <a:hlinkClick r:id="rId4" action="ppaction://hlinksldjump"/>
            <a:extLst>
              <a:ext uri="{FF2B5EF4-FFF2-40B4-BE49-F238E27FC236}">
                <a16:creationId xmlns:a16="http://schemas.microsoft.com/office/drawing/2014/main" id="{930CE60A-E0A5-96EA-457B-0690A0419F31}"/>
              </a:ext>
            </a:extLst>
          </p:cNvPr>
          <p:cNvSpPr txBox="1">
            <a:spLocks/>
          </p:cNvSpPr>
          <p:nvPr/>
        </p:nvSpPr>
        <p:spPr>
          <a:xfrm>
            <a:off x="701900" y="2535820"/>
            <a:ext cx="7948409" cy="493935"/>
          </a:xfrm>
          <a:prstGeom prst="rect">
            <a:avLst/>
          </a:prstGeom>
        </p:spPr>
        <p:style>
          <a:lnRef idx="2">
            <a:schemeClr val="accent2"/>
          </a:lnRef>
          <a:fillRef idx="1">
            <a:schemeClr val="lt1"/>
          </a:fillRef>
          <a:effectRef idx="0">
            <a:schemeClr val="accent2"/>
          </a:effectRef>
          <a:fontRef idx="minor">
            <a:schemeClr val="dk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400" dirty="0">
                <a:latin typeface="Gotham" pitchFamily="50" charset="0"/>
                <a:cs typeface="Gotham" pitchFamily="50" charset="0"/>
              </a:rPr>
              <a:t>Atracción Temporal de Personas Expertas</a:t>
            </a:r>
          </a:p>
        </p:txBody>
      </p:sp>
    </p:spTree>
    <p:extLst>
      <p:ext uri="{BB962C8B-B14F-4D97-AF65-F5344CB8AC3E}">
        <p14:creationId xmlns:p14="http://schemas.microsoft.com/office/powerpoint/2010/main" val="9373186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98E65178-B370-2545-898B-9FDA7B27AA60}"/>
              </a:ext>
            </a:extLst>
          </p:cNvPr>
          <p:cNvGraphicFramePr>
            <a:graphicFrameLocks noGrp="1"/>
          </p:cNvGraphicFramePr>
          <p:nvPr>
            <p:extLst>
              <p:ext uri="{D42A27DB-BD31-4B8C-83A1-F6EECF244321}">
                <p14:modId xmlns:p14="http://schemas.microsoft.com/office/powerpoint/2010/main" val="2307105847"/>
              </p:ext>
            </p:extLst>
          </p:nvPr>
        </p:nvGraphicFramePr>
        <p:xfrm>
          <a:off x="314459" y="1112331"/>
          <a:ext cx="10515599" cy="4515850"/>
        </p:xfrm>
        <a:graphic>
          <a:graphicData uri="http://schemas.openxmlformats.org/drawingml/2006/table">
            <a:tbl>
              <a:tblPr firstRow="1" firstCol="1" bandRow="1"/>
              <a:tblGrid>
                <a:gridCol w="569945">
                  <a:extLst>
                    <a:ext uri="{9D8B030D-6E8A-4147-A177-3AD203B41FA5}">
                      <a16:colId xmlns:a16="http://schemas.microsoft.com/office/drawing/2014/main" val="3163710609"/>
                    </a:ext>
                  </a:extLst>
                </a:gridCol>
                <a:gridCol w="6125996">
                  <a:extLst>
                    <a:ext uri="{9D8B030D-6E8A-4147-A177-3AD203B41FA5}">
                      <a16:colId xmlns:a16="http://schemas.microsoft.com/office/drawing/2014/main" val="3260649150"/>
                    </a:ext>
                  </a:extLst>
                </a:gridCol>
                <a:gridCol w="1909829">
                  <a:extLst>
                    <a:ext uri="{9D8B030D-6E8A-4147-A177-3AD203B41FA5}">
                      <a16:colId xmlns:a16="http://schemas.microsoft.com/office/drawing/2014/main" val="2619036079"/>
                    </a:ext>
                  </a:extLst>
                </a:gridCol>
                <a:gridCol w="1909829">
                  <a:extLst>
                    <a:ext uri="{9D8B030D-6E8A-4147-A177-3AD203B41FA5}">
                      <a16:colId xmlns:a16="http://schemas.microsoft.com/office/drawing/2014/main" val="1797177790"/>
                    </a:ext>
                  </a:extLst>
                </a:gridCol>
              </a:tblGrid>
              <a:tr h="381618">
                <a:tc gridSpan="4">
                  <a:txBody>
                    <a:bodyPr/>
                    <a:lstStyle/>
                    <a:p>
                      <a:pPr algn="ctr">
                        <a:buNone/>
                      </a:pPr>
                      <a:r>
                        <a:rPr lang="es-ES_tradnl" sz="900" b="1" dirty="0">
                          <a:solidFill>
                            <a:srgbClr val="FFFFFF"/>
                          </a:solidFill>
                          <a:effectLst/>
                          <a:latin typeface="Gotham" pitchFamily="50" charset="0"/>
                          <a:ea typeface="Calibri" panose="020F0502020204030204" pitchFamily="34" charset="0"/>
                          <a:cs typeface="Times New Roman" panose="02020603050405020304" pitchFamily="18" charset="0"/>
                        </a:rPr>
                        <a:t>8.1.1.2.1 De la Persona Solicitante</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tc hMerge="1">
                  <a:txBody>
                    <a:bodyPr/>
                    <a:lstStyle/>
                    <a:p>
                      <a:endParaRPr lang="es-MX"/>
                    </a:p>
                  </a:txBody>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2694264983"/>
                  </a:ext>
                </a:extLst>
              </a:tr>
              <a:tr h="89479">
                <a:tc>
                  <a:txBody>
                    <a:bodyPr/>
                    <a:lstStyle/>
                    <a:p>
                      <a:pPr algn="ctr">
                        <a:buNone/>
                      </a:pPr>
                      <a:r>
                        <a:rPr lang="es-MX" sz="900" b="1">
                          <a:solidFill>
                            <a:srgbClr val="C00000"/>
                          </a:solidFill>
                          <a:effectLst/>
                          <a:latin typeface="Gotham" pitchFamily="50" charset="0"/>
                          <a:ea typeface="MS Mincho" panose="02020609040205080304" pitchFamily="49" charset="-128"/>
                          <a:cs typeface="Gotham Light" pitchFamily="50" charset="0"/>
                        </a:rPr>
                        <a:t>No.</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MX" sz="1200" b="1" dirty="0">
                          <a:solidFill>
                            <a:srgbClr val="C00000"/>
                          </a:solidFill>
                          <a:effectLst/>
                          <a:latin typeface="Gotham" pitchFamily="50" charset="0"/>
                          <a:ea typeface="MS Mincho" panose="02020609040205080304" pitchFamily="49" charset="-128"/>
                          <a:cs typeface="Gotham Light" pitchFamily="50" charset="0"/>
                        </a:rPr>
                        <a:t>Documento</a:t>
                      </a:r>
                      <a:endParaRPr lang="es-MX"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MX" sz="1200" dirty="0">
                          <a:effectLst/>
                          <a:latin typeface="Calibri" panose="020F0502020204030204" pitchFamily="34" charset="0"/>
                          <a:ea typeface="Calibri" panose="020F0502020204030204" pitchFamily="34" charset="0"/>
                          <a:cs typeface="Times New Roman" panose="02020603050405020304" pitchFamily="18" charset="0"/>
                        </a:rPr>
                        <a:t>Subir archivo (PDF)</a:t>
                      </a: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MX" sz="1200" dirty="0">
                          <a:effectLst/>
                          <a:latin typeface="Calibri" panose="020F0502020204030204" pitchFamily="34" charset="0"/>
                          <a:ea typeface="Calibri" panose="020F0502020204030204" pitchFamily="34" charset="0"/>
                          <a:cs typeface="Times New Roman" panose="02020603050405020304" pitchFamily="18" charset="0"/>
                        </a:rPr>
                        <a:t>Revisado Comecyt</a:t>
                      </a: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2095108"/>
                  </a:ext>
                </a:extLst>
              </a:tr>
              <a:tr h="136993">
                <a:tc>
                  <a:txBody>
                    <a:bodyPr/>
                    <a:lstStyle/>
                    <a:p>
                      <a:pPr algn="ctr">
                        <a:buNone/>
                      </a:pPr>
                      <a:r>
                        <a:rPr lang="es-MX" sz="900">
                          <a:effectLst/>
                          <a:latin typeface="Gotham" pitchFamily="50" charset="0"/>
                          <a:ea typeface="Calibri" panose="020F0502020204030204" pitchFamily="34" charset="0"/>
                          <a:cs typeface="Times New Roman" panose="02020603050405020304" pitchFamily="18" charset="0"/>
                        </a:rPr>
                        <a:t>a)</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buNone/>
                        <a:tabLst>
                          <a:tab pos="180340" algn="l"/>
                        </a:tabLst>
                      </a:pPr>
                      <a:r>
                        <a:rPr lang="es-MX" sz="1200" dirty="0">
                          <a:effectLst/>
                          <a:latin typeface="Gotham" pitchFamily="50" charset="0"/>
                          <a:ea typeface="MS Mincho" panose="02020609040205080304" pitchFamily="49" charset="-128"/>
                          <a:cs typeface="Gotham Light" pitchFamily="50" charset="0"/>
                        </a:rPr>
                        <a:t>Acta Constitutiva, inscrita en el Registro Público de Comercio, con sus modificaciones en caso de que aplique</a:t>
                      </a:r>
                      <a:endParaRPr lang="es-MX"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900" dirty="0">
                          <a:effectLst/>
                          <a:latin typeface="Gotham" pitchFamily="50" charset="0"/>
                          <a:ea typeface="Calibri" panose="020F0502020204030204" pitchFamily="34" charset="0"/>
                          <a:cs typeface="Times New Roman" panose="02020603050405020304" pitchFamily="18" charset="0"/>
                        </a:rPr>
                        <a:t> </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900" dirty="0">
                          <a:effectLst/>
                          <a:latin typeface="Gotham" pitchFamily="50" charset="0"/>
                          <a:ea typeface="Calibri" panose="020F0502020204030204" pitchFamily="34" charset="0"/>
                          <a:cs typeface="Times New Roman" panose="02020603050405020304" pitchFamily="18" charset="0"/>
                        </a:rPr>
                        <a:t> </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75742579"/>
                  </a:ext>
                </a:extLst>
              </a:tr>
              <a:tr h="305443">
                <a:tc>
                  <a:txBody>
                    <a:bodyPr/>
                    <a:lstStyle/>
                    <a:p>
                      <a:pPr algn="ctr">
                        <a:buNone/>
                      </a:pPr>
                      <a:r>
                        <a:rPr lang="es-MX" sz="900">
                          <a:effectLst/>
                          <a:latin typeface="Gotham" pitchFamily="50" charset="0"/>
                          <a:ea typeface="Calibri" panose="020F0502020204030204" pitchFamily="34" charset="0"/>
                          <a:cs typeface="Times New Roman" panose="02020603050405020304" pitchFamily="18" charset="0"/>
                        </a:rPr>
                        <a:t>b)</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buNone/>
                        <a:tabLst>
                          <a:tab pos="180340" algn="l"/>
                        </a:tabLst>
                      </a:pPr>
                      <a:r>
                        <a:rPr lang="es-MX" sz="1200" dirty="0">
                          <a:effectLst/>
                          <a:latin typeface="Gotham" pitchFamily="50" charset="0"/>
                          <a:ea typeface="Calibri" panose="020F0502020204030204" pitchFamily="34" charset="0"/>
                          <a:cs typeface="Times New Roman" panose="02020603050405020304" pitchFamily="18" charset="0"/>
                        </a:rPr>
                        <a:t>Poder Notarial, mediante el cual se faculta al representante legal de la empresa para suscribir convenios y contratos, con sus modificaciones en caso de que aplique. </a:t>
                      </a:r>
                      <a:endParaRPr lang="es-MX"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900" dirty="0">
                          <a:effectLst/>
                          <a:latin typeface="Gotham" pitchFamily="50" charset="0"/>
                          <a:ea typeface="Calibri" panose="020F0502020204030204" pitchFamily="34" charset="0"/>
                          <a:cs typeface="Times New Roman" panose="02020603050405020304" pitchFamily="18" charset="0"/>
                        </a:rPr>
                        <a:t> </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900">
                          <a:solidFill>
                            <a:srgbClr val="FF0000"/>
                          </a:solidFill>
                          <a:effectLst/>
                          <a:latin typeface="Gotham" pitchFamily="50" charset="0"/>
                          <a:ea typeface="Calibri" panose="020F0502020204030204" pitchFamily="34" charset="0"/>
                          <a:cs typeface="Times New Roman" panose="02020603050405020304" pitchFamily="18" charset="0"/>
                        </a:rPr>
                        <a:t> </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02824458"/>
                  </a:ext>
                </a:extLst>
              </a:tr>
              <a:tr h="411233">
                <a:tc>
                  <a:txBody>
                    <a:bodyPr/>
                    <a:lstStyle/>
                    <a:p>
                      <a:pPr algn="ctr">
                        <a:buNone/>
                      </a:pPr>
                      <a:r>
                        <a:rPr lang="es-MX" sz="900">
                          <a:effectLst/>
                          <a:latin typeface="Gotham" pitchFamily="50" charset="0"/>
                          <a:ea typeface="Calibri" panose="020F0502020204030204" pitchFamily="34" charset="0"/>
                          <a:cs typeface="Times New Roman" panose="02020603050405020304" pitchFamily="18" charset="0"/>
                        </a:rPr>
                        <a:t>c)</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pPr>
                      <a:r>
                        <a:rPr lang="es-MX" sz="1200" dirty="0">
                          <a:effectLst/>
                          <a:latin typeface="Gotham" pitchFamily="50" charset="0"/>
                          <a:ea typeface="Calibri" panose="020F0502020204030204" pitchFamily="34" charset="0"/>
                          <a:cs typeface="Times New Roman" panose="02020603050405020304" pitchFamily="18" charset="0"/>
                        </a:rPr>
                        <a:t>Constancia de situación fiscal y/o acuse de movimientos de actualización de situación fiscal, con domicilio en el Estado de México, con fecha de expedición no mayor a tres meses a partir del primer día de publicación de la convocatoria, cuya actividad económica esté relacionada con el proyecto de desarrollo tecnológico y/o de innovación.</a:t>
                      </a:r>
                      <a:endParaRPr lang="es-MX"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900" dirty="0">
                          <a:effectLst/>
                          <a:latin typeface="Gotham" pitchFamily="50" charset="0"/>
                          <a:ea typeface="Calibri" panose="020F0502020204030204" pitchFamily="34" charset="0"/>
                          <a:cs typeface="Times New Roman" panose="02020603050405020304" pitchFamily="18" charset="0"/>
                        </a:rPr>
                        <a:t> </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900" dirty="0">
                          <a:solidFill>
                            <a:srgbClr val="FF0000"/>
                          </a:solidFill>
                          <a:effectLst/>
                          <a:latin typeface="Gotham" pitchFamily="50" charset="0"/>
                          <a:ea typeface="Calibri" panose="020F0502020204030204" pitchFamily="34" charset="0"/>
                          <a:cs typeface="Times New Roman" panose="02020603050405020304" pitchFamily="18" charset="0"/>
                        </a:rPr>
                        <a:t> </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29977947"/>
                  </a:ext>
                </a:extLst>
              </a:tr>
              <a:tr h="411233">
                <a:tc>
                  <a:txBody>
                    <a:bodyPr/>
                    <a:lstStyle/>
                    <a:p>
                      <a:pPr algn="ctr">
                        <a:buNone/>
                      </a:pPr>
                      <a:r>
                        <a:rPr lang="es-MX" sz="900">
                          <a:effectLst/>
                          <a:latin typeface="Gotham" pitchFamily="50" charset="0"/>
                          <a:ea typeface="Calibri" panose="020F0502020204030204" pitchFamily="34" charset="0"/>
                          <a:cs typeface="Times New Roman" panose="02020603050405020304" pitchFamily="18" charset="0"/>
                        </a:rPr>
                        <a:t>d)</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tabLst>
                          <a:tab pos="180340" algn="l"/>
                        </a:tabLst>
                      </a:pPr>
                      <a:r>
                        <a:rPr lang="es-MX" sz="1200" dirty="0">
                          <a:effectLst/>
                          <a:latin typeface="Gotham" pitchFamily="50" charset="0"/>
                          <a:ea typeface="Calibri" panose="020F0502020204030204" pitchFamily="34" charset="0"/>
                          <a:cs typeface="Times New Roman" panose="02020603050405020304" pitchFamily="18" charset="0"/>
                        </a:rPr>
                        <a:t>Opinión de cumplimiento de obligaciones fiscales, en sentido positivo, emitido por el Sistema de Administración Tributaria, conforme a lo establecido en el Código Fiscal de la Federación (Formato 32D), con fecha de expedición no mayor a tres meses a partir del primer día de publicación de la convocatoria.</a:t>
                      </a:r>
                      <a:endParaRPr lang="es-MX"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900">
                          <a:effectLst/>
                          <a:latin typeface="Gotham" pitchFamily="50" charset="0"/>
                          <a:ea typeface="Calibri" panose="020F0502020204030204" pitchFamily="34" charset="0"/>
                          <a:cs typeface="Times New Roman" panose="02020603050405020304" pitchFamily="18" charset="0"/>
                        </a:rPr>
                        <a:t> </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900" dirty="0">
                          <a:solidFill>
                            <a:srgbClr val="FF0000"/>
                          </a:solidFill>
                          <a:effectLst/>
                          <a:latin typeface="Gotham" pitchFamily="50" charset="0"/>
                          <a:ea typeface="Calibri" panose="020F0502020204030204" pitchFamily="34" charset="0"/>
                          <a:cs typeface="Times New Roman" panose="02020603050405020304" pitchFamily="18" charset="0"/>
                        </a:rPr>
                        <a:t> </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87290853"/>
                  </a:ext>
                </a:extLst>
              </a:tr>
              <a:tr h="274156">
                <a:tc>
                  <a:txBody>
                    <a:bodyPr/>
                    <a:lstStyle/>
                    <a:p>
                      <a:pPr algn="ctr">
                        <a:buNone/>
                      </a:pPr>
                      <a:r>
                        <a:rPr lang="es-MX" sz="900">
                          <a:effectLst/>
                          <a:latin typeface="Gotham" pitchFamily="50" charset="0"/>
                          <a:ea typeface="Calibri" panose="020F0502020204030204" pitchFamily="34" charset="0"/>
                          <a:cs typeface="Times New Roman" panose="02020603050405020304" pitchFamily="18" charset="0"/>
                        </a:rPr>
                        <a:t>e)</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tabLst>
                          <a:tab pos="180340" algn="l"/>
                        </a:tabLst>
                      </a:pPr>
                      <a:r>
                        <a:rPr lang="es-MX" sz="1200" dirty="0">
                          <a:effectLst/>
                          <a:latin typeface="Gotham" pitchFamily="50" charset="0"/>
                          <a:ea typeface="Calibri" panose="020F0502020204030204" pitchFamily="34" charset="0"/>
                          <a:cs typeface="Times New Roman" panose="02020603050405020304" pitchFamily="18" charset="0"/>
                        </a:rPr>
                        <a:t>Comprobante de domicilio a nombre de la MiPyME o grande empresa en el Estado de México (recibo de luz, agua o telecomunicaciones), con fecha de expedición no mayor a tres meses a partir del primer día de publicación de la convocatoria.</a:t>
                      </a:r>
                      <a:endParaRPr lang="es-MX"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900">
                          <a:effectLst/>
                          <a:latin typeface="Gotham" pitchFamily="50" charset="0"/>
                          <a:ea typeface="Calibri" panose="020F0502020204030204" pitchFamily="34" charset="0"/>
                          <a:cs typeface="Times New Roman" panose="02020603050405020304" pitchFamily="18" charset="0"/>
                        </a:rPr>
                        <a:t> </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900" dirty="0">
                          <a:solidFill>
                            <a:srgbClr val="FF0000"/>
                          </a:solidFill>
                          <a:effectLst/>
                          <a:latin typeface="Gotham" pitchFamily="50" charset="0"/>
                          <a:ea typeface="Calibri" panose="020F0502020204030204" pitchFamily="34" charset="0"/>
                          <a:cs typeface="Times New Roman" panose="02020603050405020304" pitchFamily="18" charset="0"/>
                        </a:rPr>
                        <a:t> </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44533629"/>
                  </a:ext>
                </a:extLst>
              </a:tr>
              <a:tr h="274156">
                <a:tc>
                  <a:txBody>
                    <a:bodyPr/>
                    <a:lstStyle/>
                    <a:p>
                      <a:pPr algn="ctr">
                        <a:buNone/>
                      </a:pPr>
                      <a:r>
                        <a:rPr lang="es-MX" sz="900">
                          <a:effectLst/>
                          <a:latin typeface="Gotham" pitchFamily="50" charset="0"/>
                          <a:ea typeface="Calibri" panose="020F0502020204030204" pitchFamily="34" charset="0"/>
                          <a:cs typeface="Times New Roman" panose="02020603050405020304" pitchFamily="18" charset="0"/>
                        </a:rPr>
                        <a:t>f)</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tabLst>
                          <a:tab pos="180340" algn="l"/>
                        </a:tabLst>
                      </a:pPr>
                      <a:r>
                        <a:rPr lang="es-MX" sz="1200" dirty="0">
                          <a:effectLst/>
                          <a:latin typeface="Gotham" pitchFamily="50" charset="0"/>
                          <a:ea typeface="Calibri" panose="020F0502020204030204" pitchFamily="34" charset="0"/>
                          <a:cs typeface="Times New Roman" panose="02020603050405020304" pitchFamily="18" charset="0"/>
                        </a:rPr>
                        <a:t>Identificación oficial vigente de la persona representante legal y de las personas responsables técnica y administrativa del proyecto (credencial para votar, cédula profesional o pasaporte).</a:t>
                      </a:r>
                      <a:endParaRPr lang="es-MX"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900">
                          <a:effectLst/>
                          <a:latin typeface="Gotham" pitchFamily="50" charset="0"/>
                          <a:ea typeface="Calibri" panose="020F0502020204030204" pitchFamily="34" charset="0"/>
                          <a:cs typeface="Times New Roman" panose="02020603050405020304" pitchFamily="18" charset="0"/>
                        </a:rPr>
                        <a:t> </a:t>
                      </a:r>
                      <a:endParaRPr lang="es-MX" sz="12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900" dirty="0">
                          <a:solidFill>
                            <a:srgbClr val="FF0000"/>
                          </a:solidFill>
                          <a:effectLst/>
                          <a:latin typeface="Gotham" pitchFamily="50" charset="0"/>
                          <a:ea typeface="Calibri" panose="020F0502020204030204" pitchFamily="34" charset="0"/>
                          <a:cs typeface="Times New Roman" panose="02020603050405020304" pitchFamily="18" charset="0"/>
                        </a:rPr>
                        <a:t> </a:t>
                      </a:r>
                      <a:endParaRPr lang="es-MX"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9315722"/>
                  </a:ext>
                </a:extLst>
              </a:tr>
            </a:tbl>
          </a:graphicData>
        </a:graphic>
      </p:graphicFrame>
      <p:sp>
        <p:nvSpPr>
          <p:cNvPr id="3" name="Título 1">
            <a:extLst>
              <a:ext uri="{FF2B5EF4-FFF2-40B4-BE49-F238E27FC236}">
                <a16:creationId xmlns:a16="http://schemas.microsoft.com/office/drawing/2014/main" id="{FE20E2C0-EF04-EA9B-C0D8-79CBCFDA6649}"/>
              </a:ext>
            </a:extLst>
          </p:cNvPr>
          <p:cNvSpPr txBox="1">
            <a:spLocks/>
          </p:cNvSpPr>
          <p:nvPr/>
        </p:nvSpPr>
        <p:spPr>
          <a:xfrm>
            <a:off x="314459" y="276895"/>
            <a:ext cx="7906555" cy="547353"/>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a:latin typeface="Gotham" pitchFamily="50" charset="0"/>
                <a:cs typeface="Gotham" pitchFamily="50" charset="0"/>
              </a:rPr>
              <a:t>Requisitos de la Persona Solicitante</a:t>
            </a:r>
          </a:p>
        </p:txBody>
      </p:sp>
      <p:sp>
        <p:nvSpPr>
          <p:cNvPr id="4" name="Título 1">
            <a:extLst>
              <a:ext uri="{FF2B5EF4-FFF2-40B4-BE49-F238E27FC236}">
                <a16:creationId xmlns:a16="http://schemas.microsoft.com/office/drawing/2014/main" id="{75876462-CF23-187D-17BE-90AD76D61272}"/>
              </a:ext>
            </a:extLst>
          </p:cNvPr>
          <p:cNvSpPr txBox="1">
            <a:spLocks/>
          </p:cNvSpPr>
          <p:nvPr/>
        </p:nvSpPr>
        <p:spPr>
          <a:xfrm>
            <a:off x="906887" y="5859091"/>
            <a:ext cx="10156065" cy="606104"/>
          </a:xfrm>
          <a:prstGeom prst="rect">
            <a:avLst/>
          </a:prstGeom>
        </p:spPr>
        <p:style>
          <a:lnRef idx="2">
            <a:schemeClr val="accent2"/>
          </a:lnRef>
          <a:fillRef idx="1">
            <a:schemeClr val="lt1"/>
          </a:fillRef>
          <a:effectRef idx="0">
            <a:schemeClr val="accent2"/>
          </a:effectRef>
          <a:fontRef idx="minor">
            <a:schemeClr val="dk1"/>
          </a:fontRef>
        </p:style>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400" dirty="0">
                <a:latin typeface="Gotham" pitchFamily="50" charset="0"/>
                <a:cs typeface="Gotham" pitchFamily="50" charset="0"/>
              </a:rPr>
              <a:t>Las empresas (Personas solicitantes, deberán subir sus documentos al sistema en versión PDF, y podrán visualizar que documento subieron, y en su momento que documento fue revisado por Comecyt y comentarios al documento. </a:t>
            </a:r>
          </a:p>
        </p:txBody>
      </p:sp>
    </p:spTree>
    <p:extLst>
      <p:ext uri="{BB962C8B-B14F-4D97-AF65-F5344CB8AC3E}">
        <p14:creationId xmlns:p14="http://schemas.microsoft.com/office/powerpoint/2010/main" val="1340879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CBB64D74-086D-5358-0618-B4BC24F53B0F}"/>
              </a:ext>
            </a:extLst>
          </p:cNvPr>
          <p:cNvGraphicFramePr>
            <a:graphicFrameLocks noGrp="1"/>
          </p:cNvGraphicFramePr>
          <p:nvPr>
            <p:extLst>
              <p:ext uri="{D42A27DB-BD31-4B8C-83A1-F6EECF244321}">
                <p14:modId xmlns:p14="http://schemas.microsoft.com/office/powerpoint/2010/main" val="786815339"/>
              </p:ext>
            </p:extLst>
          </p:nvPr>
        </p:nvGraphicFramePr>
        <p:xfrm>
          <a:off x="438955" y="1741268"/>
          <a:ext cx="10515599" cy="3736074"/>
        </p:xfrm>
        <a:graphic>
          <a:graphicData uri="http://schemas.openxmlformats.org/drawingml/2006/table">
            <a:tbl>
              <a:tblPr firstRow="1" firstCol="1" bandRow="1"/>
              <a:tblGrid>
                <a:gridCol w="569945">
                  <a:extLst>
                    <a:ext uri="{9D8B030D-6E8A-4147-A177-3AD203B41FA5}">
                      <a16:colId xmlns:a16="http://schemas.microsoft.com/office/drawing/2014/main" val="234609666"/>
                    </a:ext>
                  </a:extLst>
                </a:gridCol>
                <a:gridCol w="7506036">
                  <a:extLst>
                    <a:ext uri="{9D8B030D-6E8A-4147-A177-3AD203B41FA5}">
                      <a16:colId xmlns:a16="http://schemas.microsoft.com/office/drawing/2014/main" val="1748124776"/>
                    </a:ext>
                  </a:extLst>
                </a:gridCol>
                <a:gridCol w="1219809">
                  <a:extLst>
                    <a:ext uri="{9D8B030D-6E8A-4147-A177-3AD203B41FA5}">
                      <a16:colId xmlns:a16="http://schemas.microsoft.com/office/drawing/2014/main" val="54792555"/>
                    </a:ext>
                  </a:extLst>
                </a:gridCol>
                <a:gridCol w="1219809">
                  <a:extLst>
                    <a:ext uri="{9D8B030D-6E8A-4147-A177-3AD203B41FA5}">
                      <a16:colId xmlns:a16="http://schemas.microsoft.com/office/drawing/2014/main" val="3270512196"/>
                    </a:ext>
                  </a:extLst>
                </a:gridCol>
              </a:tblGrid>
              <a:tr h="215771">
                <a:tc gridSpan="4">
                  <a:txBody>
                    <a:bodyPr/>
                    <a:lstStyle/>
                    <a:p>
                      <a:pPr algn="ctr">
                        <a:buNone/>
                      </a:pPr>
                      <a:r>
                        <a:rPr lang="es-ES_tradnl" sz="1200" b="1" dirty="0">
                          <a:solidFill>
                            <a:srgbClr val="FFFFFF"/>
                          </a:solidFill>
                          <a:effectLst/>
                          <a:latin typeface="Gotham" pitchFamily="50" charset="0"/>
                          <a:ea typeface="Calibri" panose="020F0502020204030204" pitchFamily="34" charset="0"/>
                          <a:cs typeface="Times New Roman" panose="02020603050405020304" pitchFamily="18" charset="0"/>
                        </a:rPr>
                        <a:t>8.1.1.2.2 De la </a:t>
                      </a:r>
                      <a:r>
                        <a:rPr lang="es-ES_tradnl" sz="1400" b="1" dirty="0">
                          <a:solidFill>
                            <a:srgbClr val="FFFFFF"/>
                          </a:solidFill>
                          <a:effectLst/>
                          <a:latin typeface="Gotham" pitchFamily="50" charset="0"/>
                          <a:ea typeface="Calibri" panose="020F0502020204030204" pitchFamily="34" charset="0"/>
                          <a:cs typeface="Times New Roman" panose="02020603050405020304" pitchFamily="18" charset="0"/>
                        </a:rPr>
                        <a:t>modalidad</a:t>
                      </a:r>
                      <a:r>
                        <a:rPr lang="es-ES_tradnl" sz="1200" b="1" dirty="0">
                          <a:solidFill>
                            <a:srgbClr val="FFFFFF"/>
                          </a:solidFill>
                          <a:effectLst/>
                          <a:latin typeface="Gotham" pitchFamily="50" charset="0"/>
                          <a:ea typeface="Calibri" panose="020F0502020204030204" pitchFamily="34" charset="0"/>
                          <a:cs typeface="Times New Roman" panose="02020603050405020304" pitchFamily="18" charset="0"/>
                        </a:rPr>
                        <a:t> Incorporación de Profesionistas</a:t>
                      </a:r>
                      <a:endParaRPr lang="es-MX"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tc hMerge="1">
                  <a:txBody>
                    <a:bodyPr/>
                    <a:lstStyle/>
                    <a:p>
                      <a:endParaRPr lang="es-MX"/>
                    </a:p>
                  </a:txBody>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3488558644"/>
                  </a:ext>
                </a:extLst>
              </a:tr>
              <a:tr h="137078">
                <a:tc>
                  <a:txBody>
                    <a:bodyPr/>
                    <a:lstStyle/>
                    <a:p>
                      <a:pPr algn="ctr">
                        <a:buNone/>
                      </a:pPr>
                      <a:r>
                        <a:rPr lang="es-MX" sz="1200" b="1">
                          <a:solidFill>
                            <a:srgbClr val="C00000"/>
                          </a:solidFill>
                          <a:effectLst/>
                          <a:latin typeface="Gotham" pitchFamily="50" charset="0"/>
                          <a:ea typeface="MS Mincho" panose="02020609040205080304" pitchFamily="49" charset="-128"/>
                          <a:cs typeface="Gotham Light" pitchFamily="50" charset="0"/>
                        </a:rPr>
                        <a:t>No.</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tabLst>
                          <a:tab pos="180340" algn="l"/>
                        </a:tabLst>
                      </a:pPr>
                      <a:r>
                        <a:rPr lang="es-MX" sz="1200" b="1" dirty="0">
                          <a:solidFill>
                            <a:srgbClr val="C00000"/>
                          </a:solidFill>
                          <a:effectLst/>
                          <a:latin typeface="Gotham" pitchFamily="50" charset="0"/>
                          <a:ea typeface="MS Mincho" panose="02020609040205080304" pitchFamily="49" charset="-128"/>
                          <a:cs typeface="Gotham Light" pitchFamily="50" charset="0"/>
                        </a:rPr>
                        <a:t>Documento</a:t>
                      </a:r>
                      <a:endParaRPr lang="es-MX"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MX" sz="1200" dirty="0">
                          <a:effectLst/>
                          <a:latin typeface="Calibri" panose="020F0502020204030204" pitchFamily="34" charset="0"/>
                          <a:ea typeface="Calibri" panose="020F0502020204030204" pitchFamily="34" charset="0"/>
                          <a:cs typeface="Times New Roman" panose="02020603050405020304" pitchFamily="18" charset="0"/>
                        </a:rPr>
                        <a:t>Subir archivo (PDF)</a:t>
                      </a: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MX" sz="1200" dirty="0">
                          <a:effectLst/>
                          <a:latin typeface="Calibri" panose="020F0502020204030204" pitchFamily="34" charset="0"/>
                          <a:ea typeface="Calibri" panose="020F0502020204030204" pitchFamily="34" charset="0"/>
                          <a:cs typeface="Times New Roman" panose="02020603050405020304" pitchFamily="18" charset="0"/>
                        </a:rPr>
                        <a:t>Revisado Comecyt</a:t>
                      </a: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9884740"/>
                  </a:ext>
                </a:extLst>
              </a:tr>
              <a:tr h="548311">
                <a:tc>
                  <a:txBody>
                    <a:bodyPr/>
                    <a:lstStyle/>
                    <a:p>
                      <a:pPr algn="ctr">
                        <a:buNone/>
                      </a:pPr>
                      <a:r>
                        <a:rPr lang="es-MX" sz="1200">
                          <a:effectLst/>
                          <a:latin typeface="Gotham" pitchFamily="50" charset="0"/>
                          <a:ea typeface="Calibri" panose="020F0502020204030204" pitchFamily="34" charset="0"/>
                          <a:cs typeface="Times New Roman" panose="02020603050405020304" pitchFamily="18" charset="0"/>
                        </a:rPr>
                        <a:t>a)</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tabLst>
                          <a:tab pos="180340" algn="l"/>
                        </a:tabLst>
                      </a:pPr>
                      <a:r>
                        <a:rPr lang="es-MX" sz="1200">
                          <a:effectLst/>
                          <a:latin typeface="Gotham" pitchFamily="50" charset="0"/>
                          <a:ea typeface="Calibri" panose="020F0502020204030204" pitchFamily="34" charset="0"/>
                          <a:cs typeface="Times New Roman" panose="02020603050405020304" pitchFamily="18" charset="0"/>
                        </a:rPr>
                        <a:t>Identificación oficial vigente, que contenga fotografía, Clave Única de Registro de Población (CURP) y domicilio en el Estado de México. En caso de no contar con el documento antes mencionado, podrá presentar el pasaporte vigente, acompañado de una constancia domiciliaria emitida por la autoridad municipal competente del Estado de México con fecha de expedición no mayor a tres meses a partir del primer día de publicación de la convocatoria.</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1200" dirty="0">
                          <a:effectLst/>
                          <a:latin typeface="Gotham" pitchFamily="50" charset="0"/>
                          <a:ea typeface="Calibri" panose="020F0502020204030204" pitchFamily="34" charset="0"/>
                          <a:cs typeface="Times New Roman" panose="02020603050405020304" pitchFamily="18" charset="0"/>
                        </a:rPr>
                        <a:t> </a:t>
                      </a:r>
                      <a:endParaRPr lang="es-MX"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1200">
                          <a:solidFill>
                            <a:srgbClr val="FF0000"/>
                          </a:solidFill>
                          <a:effectLst/>
                          <a:latin typeface="Gotham" pitchFamily="50" charset="0"/>
                          <a:ea typeface="Calibri" panose="020F0502020204030204" pitchFamily="34" charset="0"/>
                          <a:cs typeface="Times New Roman" panose="02020603050405020304" pitchFamily="18" charset="0"/>
                        </a:rPr>
                        <a:t> </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63861641"/>
                  </a:ext>
                </a:extLst>
              </a:tr>
              <a:tr h="274156">
                <a:tc>
                  <a:txBody>
                    <a:bodyPr/>
                    <a:lstStyle/>
                    <a:p>
                      <a:pPr algn="ctr">
                        <a:buNone/>
                      </a:pPr>
                      <a:r>
                        <a:rPr lang="es-MX" sz="1200">
                          <a:effectLst/>
                          <a:latin typeface="Gotham" pitchFamily="50" charset="0"/>
                          <a:ea typeface="Calibri" panose="020F0502020204030204" pitchFamily="34" charset="0"/>
                          <a:cs typeface="Times New Roman" panose="02020603050405020304" pitchFamily="18" charset="0"/>
                        </a:rPr>
                        <a:t>b)</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tabLst>
                          <a:tab pos="180340" algn="l"/>
                        </a:tabLst>
                      </a:pPr>
                      <a:r>
                        <a:rPr lang="es-MX" sz="1200">
                          <a:effectLst/>
                          <a:latin typeface="Gotham" pitchFamily="50" charset="0"/>
                          <a:ea typeface="Calibri" panose="020F0502020204030204" pitchFamily="34" charset="0"/>
                          <a:cs typeface="Times New Roman" panose="02020603050405020304" pitchFamily="18" charset="0"/>
                        </a:rPr>
                        <a:t>Comprobante de domicilio que acredite su residencia en el Estado de México (recibo de luz, agua o telecomunicaciones) con una antigüedad no mayor a tres meses a partir del primer día de publicación de la convocatoria.</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1200">
                          <a:effectLst/>
                          <a:latin typeface="Gotham" pitchFamily="50" charset="0"/>
                          <a:ea typeface="Calibri" panose="020F0502020204030204" pitchFamily="34" charset="0"/>
                          <a:cs typeface="Times New Roman" panose="02020603050405020304" pitchFamily="18" charset="0"/>
                        </a:rPr>
                        <a:t> </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1200">
                          <a:solidFill>
                            <a:srgbClr val="FF0000"/>
                          </a:solidFill>
                          <a:effectLst/>
                          <a:latin typeface="Gotham" pitchFamily="50" charset="0"/>
                          <a:ea typeface="Calibri" panose="020F0502020204030204" pitchFamily="34" charset="0"/>
                          <a:cs typeface="Times New Roman" panose="02020603050405020304" pitchFamily="18" charset="0"/>
                        </a:rPr>
                        <a:t> </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23143051"/>
                  </a:ext>
                </a:extLst>
              </a:tr>
              <a:tr h="228463">
                <a:tc>
                  <a:txBody>
                    <a:bodyPr/>
                    <a:lstStyle/>
                    <a:p>
                      <a:pPr algn="ctr">
                        <a:buNone/>
                      </a:pPr>
                      <a:r>
                        <a:rPr lang="es-MX" sz="1200">
                          <a:effectLst/>
                          <a:latin typeface="Gotham" pitchFamily="50" charset="0"/>
                          <a:ea typeface="Calibri" panose="020F0502020204030204" pitchFamily="34" charset="0"/>
                          <a:cs typeface="Times New Roman" panose="02020603050405020304" pitchFamily="18" charset="0"/>
                        </a:rPr>
                        <a:t>c)</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tabLst>
                          <a:tab pos="180340" algn="l"/>
                        </a:tabLst>
                      </a:pPr>
                      <a:r>
                        <a:rPr lang="es-MX" sz="1200">
                          <a:effectLst/>
                          <a:latin typeface="Gotham" pitchFamily="50" charset="0"/>
                          <a:ea typeface="Calibri" panose="020F0502020204030204" pitchFamily="34" charset="0"/>
                          <a:cs typeface="Times New Roman" panose="02020603050405020304" pitchFamily="18" charset="0"/>
                        </a:rPr>
                        <a:t>Título o cedula de técnico superior universitario, licenciatura, maestría o doctorado.</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1200">
                          <a:effectLst/>
                          <a:latin typeface="Gotham" pitchFamily="50" charset="0"/>
                          <a:ea typeface="Calibri" panose="020F0502020204030204" pitchFamily="34" charset="0"/>
                          <a:cs typeface="Times New Roman" panose="02020603050405020304" pitchFamily="18" charset="0"/>
                        </a:rPr>
                        <a:t> </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1200">
                          <a:solidFill>
                            <a:srgbClr val="FF0000"/>
                          </a:solidFill>
                          <a:effectLst/>
                          <a:latin typeface="Gotham" pitchFamily="50" charset="0"/>
                          <a:ea typeface="Calibri" panose="020F0502020204030204" pitchFamily="34" charset="0"/>
                          <a:cs typeface="Times New Roman" panose="02020603050405020304" pitchFamily="18" charset="0"/>
                        </a:rPr>
                        <a:t> </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04456230"/>
                  </a:ext>
                </a:extLst>
              </a:tr>
              <a:tr h="274156">
                <a:tc>
                  <a:txBody>
                    <a:bodyPr/>
                    <a:lstStyle/>
                    <a:p>
                      <a:pPr algn="ctr">
                        <a:buNone/>
                      </a:pPr>
                      <a:r>
                        <a:rPr lang="es-MX" sz="1200">
                          <a:effectLst/>
                          <a:latin typeface="Gotham" pitchFamily="50" charset="0"/>
                          <a:ea typeface="Calibri" panose="020F0502020204030204" pitchFamily="34" charset="0"/>
                          <a:cs typeface="Times New Roman" panose="02020603050405020304" pitchFamily="18" charset="0"/>
                        </a:rPr>
                        <a:t>d)</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tabLst>
                          <a:tab pos="180340" algn="l"/>
                        </a:tabLst>
                      </a:pPr>
                      <a:r>
                        <a:rPr lang="es-MX" sz="1200">
                          <a:effectLst/>
                          <a:latin typeface="Gotham" pitchFamily="50" charset="0"/>
                          <a:ea typeface="Calibri" panose="020F0502020204030204" pitchFamily="34" charset="0"/>
                          <a:cs typeface="Times New Roman" panose="02020603050405020304" pitchFamily="18" charset="0"/>
                        </a:rPr>
                        <a:t>Curriculum Vitae, que avale sus conocimientos y experiencia en relación al desarrollo de la propuesta tecnológica y/o de innovación.</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1200">
                          <a:effectLst/>
                          <a:latin typeface="Gotham" pitchFamily="50" charset="0"/>
                          <a:ea typeface="Calibri" panose="020F0502020204030204" pitchFamily="34" charset="0"/>
                          <a:cs typeface="Times New Roman" panose="02020603050405020304" pitchFamily="18" charset="0"/>
                        </a:rPr>
                        <a:t> </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1200">
                          <a:solidFill>
                            <a:srgbClr val="FF0000"/>
                          </a:solidFill>
                          <a:effectLst/>
                          <a:latin typeface="Gotham" pitchFamily="50" charset="0"/>
                          <a:ea typeface="Calibri" panose="020F0502020204030204" pitchFamily="34" charset="0"/>
                          <a:cs typeface="Times New Roman" panose="02020603050405020304" pitchFamily="18" charset="0"/>
                        </a:rPr>
                        <a:t> </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90154993"/>
                  </a:ext>
                </a:extLst>
              </a:tr>
              <a:tr h="137078">
                <a:tc>
                  <a:txBody>
                    <a:bodyPr/>
                    <a:lstStyle/>
                    <a:p>
                      <a:pPr algn="ctr">
                        <a:buNone/>
                      </a:pPr>
                      <a:r>
                        <a:rPr lang="es-MX" sz="1200">
                          <a:effectLst/>
                          <a:latin typeface="Gotham" pitchFamily="50" charset="0"/>
                          <a:ea typeface="Calibri" panose="020F0502020204030204" pitchFamily="34" charset="0"/>
                          <a:cs typeface="Times New Roman" panose="02020603050405020304" pitchFamily="18" charset="0"/>
                        </a:rPr>
                        <a:t>e)</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tabLst>
                          <a:tab pos="180340" algn="l"/>
                        </a:tabLst>
                      </a:pPr>
                      <a:r>
                        <a:rPr lang="es-MX" sz="1200">
                          <a:effectLst/>
                          <a:latin typeface="Gotham" pitchFamily="50" charset="0"/>
                          <a:ea typeface="Calibri" panose="020F0502020204030204" pitchFamily="34" charset="0"/>
                          <a:cs typeface="Times New Roman" panose="02020603050405020304" pitchFamily="18" charset="0"/>
                        </a:rPr>
                        <a:t>Constancia de Situación Fiscal actualizada</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1200">
                          <a:effectLst/>
                          <a:latin typeface="Gotham" pitchFamily="50" charset="0"/>
                          <a:ea typeface="Calibri" panose="020F0502020204030204" pitchFamily="34" charset="0"/>
                          <a:cs typeface="Times New Roman" panose="02020603050405020304" pitchFamily="18" charset="0"/>
                        </a:rPr>
                        <a:t> </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1200">
                          <a:solidFill>
                            <a:srgbClr val="FF0000"/>
                          </a:solidFill>
                          <a:effectLst/>
                          <a:latin typeface="Gotham" pitchFamily="50" charset="0"/>
                          <a:ea typeface="Calibri" panose="020F0502020204030204" pitchFamily="34" charset="0"/>
                          <a:cs typeface="Times New Roman" panose="02020603050405020304" pitchFamily="18" charset="0"/>
                        </a:rPr>
                        <a:t> </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86695721"/>
                  </a:ext>
                </a:extLst>
              </a:tr>
              <a:tr h="137078">
                <a:tc>
                  <a:txBody>
                    <a:bodyPr/>
                    <a:lstStyle/>
                    <a:p>
                      <a:pPr algn="ctr">
                        <a:buNone/>
                      </a:pPr>
                      <a:r>
                        <a:rPr lang="es-MX" sz="1200">
                          <a:effectLst/>
                          <a:latin typeface="Gotham" pitchFamily="50" charset="0"/>
                          <a:ea typeface="Calibri" panose="020F0502020204030204" pitchFamily="34" charset="0"/>
                          <a:cs typeface="Times New Roman" panose="02020603050405020304" pitchFamily="18" charset="0"/>
                        </a:rPr>
                        <a:t>f)</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tabLst>
                          <a:tab pos="180340" algn="l"/>
                        </a:tabLst>
                      </a:pPr>
                      <a:r>
                        <a:rPr lang="es-MX" sz="1200">
                          <a:effectLst/>
                          <a:latin typeface="Gotham" pitchFamily="50" charset="0"/>
                          <a:ea typeface="Calibri" panose="020F0502020204030204" pitchFamily="34" charset="0"/>
                          <a:cs typeface="Times New Roman" panose="02020603050405020304" pitchFamily="18" charset="0"/>
                        </a:rPr>
                        <a:t>Propuesta de contrato de prestación de servicios.</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1200">
                          <a:effectLst/>
                          <a:latin typeface="Gotham" pitchFamily="50" charset="0"/>
                          <a:ea typeface="Calibri" panose="020F0502020204030204" pitchFamily="34" charset="0"/>
                          <a:cs typeface="Times New Roman" panose="02020603050405020304" pitchFamily="18" charset="0"/>
                        </a:rPr>
                        <a:t> </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1200">
                          <a:solidFill>
                            <a:srgbClr val="FF0000"/>
                          </a:solidFill>
                          <a:effectLst/>
                          <a:latin typeface="Gotham" pitchFamily="50" charset="0"/>
                          <a:ea typeface="Calibri" panose="020F0502020204030204" pitchFamily="34" charset="0"/>
                          <a:cs typeface="Times New Roman" panose="02020603050405020304" pitchFamily="18" charset="0"/>
                        </a:rPr>
                        <a:t> </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6680791"/>
                  </a:ext>
                </a:extLst>
              </a:tr>
              <a:tr h="411233">
                <a:tc>
                  <a:txBody>
                    <a:bodyPr/>
                    <a:lstStyle/>
                    <a:p>
                      <a:pPr algn="ctr">
                        <a:buNone/>
                      </a:pPr>
                      <a:r>
                        <a:rPr lang="es-MX" sz="1200">
                          <a:effectLst/>
                          <a:latin typeface="Gotham" pitchFamily="50" charset="0"/>
                          <a:ea typeface="Calibri" panose="020F0502020204030204" pitchFamily="34" charset="0"/>
                          <a:cs typeface="Times New Roman" panose="02020603050405020304" pitchFamily="18" charset="0"/>
                        </a:rPr>
                        <a:t>g)</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tabLst>
                          <a:tab pos="180340" algn="l"/>
                        </a:tabLst>
                      </a:pPr>
                      <a:r>
                        <a:rPr lang="es-MX" sz="1200" dirty="0">
                          <a:effectLst/>
                          <a:latin typeface="Gotham" pitchFamily="50" charset="0"/>
                          <a:ea typeface="Calibri" panose="020F0502020204030204" pitchFamily="34" charset="0"/>
                          <a:cs typeface="Times New Roman" panose="02020603050405020304" pitchFamily="18" charset="0"/>
                        </a:rPr>
                        <a:t>Carta dirigida a la persona titular de la </a:t>
                      </a:r>
                      <a:r>
                        <a:rPr lang="es-MX" sz="1200" dirty="0" err="1">
                          <a:effectLst/>
                          <a:latin typeface="Gotham" pitchFamily="50" charset="0"/>
                          <a:ea typeface="Calibri" panose="020F0502020204030204" pitchFamily="34" charset="0"/>
                          <a:cs typeface="Times New Roman" panose="02020603050405020304" pitchFamily="18" charset="0"/>
                        </a:rPr>
                        <a:t>DDTyV</a:t>
                      </a:r>
                      <a:r>
                        <a:rPr lang="es-MX" sz="1200" dirty="0">
                          <a:effectLst/>
                          <a:latin typeface="Gotham" pitchFamily="50" charset="0"/>
                          <a:ea typeface="Calibri" panose="020F0502020204030204" pitchFamily="34" charset="0"/>
                          <a:cs typeface="Times New Roman" panose="02020603050405020304" pitchFamily="18" charset="0"/>
                        </a:rPr>
                        <a:t>, bajo protesta de decir verdad, en la que especifique que no se encuentra estudiando, ni laborando, así como que no tiene relación consanguínea hasta segundo grado con las personas propietarias de la persona solicitante (micro, pequeña, mediana o grande empresa).  </a:t>
                      </a:r>
                      <a:endParaRPr lang="es-MX"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1200">
                          <a:effectLst/>
                          <a:latin typeface="Gotham" pitchFamily="50" charset="0"/>
                          <a:ea typeface="Calibri" panose="020F0502020204030204" pitchFamily="34" charset="0"/>
                          <a:cs typeface="Times New Roman" panose="02020603050405020304" pitchFamily="18" charset="0"/>
                        </a:rPr>
                        <a:t> </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1200" dirty="0">
                          <a:solidFill>
                            <a:srgbClr val="FF0000"/>
                          </a:solidFill>
                          <a:effectLst/>
                          <a:latin typeface="Gotham" pitchFamily="50" charset="0"/>
                          <a:ea typeface="Calibri" panose="020F0502020204030204" pitchFamily="34" charset="0"/>
                          <a:cs typeface="Times New Roman" panose="02020603050405020304" pitchFamily="18" charset="0"/>
                        </a:rPr>
                        <a:t> </a:t>
                      </a:r>
                      <a:endParaRPr lang="es-MX"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50526133"/>
                  </a:ext>
                </a:extLst>
              </a:tr>
            </a:tbl>
          </a:graphicData>
        </a:graphic>
      </p:graphicFrame>
      <p:sp>
        <p:nvSpPr>
          <p:cNvPr id="4" name="Título 1">
            <a:extLst>
              <a:ext uri="{FF2B5EF4-FFF2-40B4-BE49-F238E27FC236}">
                <a16:creationId xmlns:a16="http://schemas.microsoft.com/office/drawing/2014/main" id="{4F27FC61-3C70-D108-2B21-F74E62BCCDF2}"/>
              </a:ext>
            </a:extLst>
          </p:cNvPr>
          <p:cNvSpPr txBox="1">
            <a:spLocks/>
          </p:cNvSpPr>
          <p:nvPr/>
        </p:nvSpPr>
        <p:spPr>
          <a:xfrm>
            <a:off x="798489" y="5921528"/>
            <a:ext cx="10156065" cy="606104"/>
          </a:xfrm>
          <a:prstGeom prst="rect">
            <a:avLst/>
          </a:prstGeom>
        </p:spPr>
        <p:style>
          <a:lnRef idx="2">
            <a:schemeClr val="accent2"/>
          </a:lnRef>
          <a:fillRef idx="1">
            <a:schemeClr val="lt1"/>
          </a:fillRef>
          <a:effectRef idx="0">
            <a:schemeClr val="accent2"/>
          </a:effectRef>
          <a:fontRef idx="minor">
            <a:schemeClr val="dk1"/>
          </a:fontRef>
        </p:style>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400" dirty="0">
                <a:latin typeface="Gotham" pitchFamily="50" charset="0"/>
                <a:cs typeface="Gotham" pitchFamily="50" charset="0"/>
              </a:rPr>
              <a:t>Las empresas (Personas solicitantes, deberán subir sus documentos al sistema en versión PDF, y podrán visualizar que documento subieron, y en su momento que documento fue revisado por Comecyt y comentarios al documento. </a:t>
            </a:r>
          </a:p>
        </p:txBody>
      </p:sp>
      <p:sp>
        <p:nvSpPr>
          <p:cNvPr id="5" name="Título 1">
            <a:extLst>
              <a:ext uri="{FF2B5EF4-FFF2-40B4-BE49-F238E27FC236}">
                <a16:creationId xmlns:a16="http://schemas.microsoft.com/office/drawing/2014/main" id="{B64A45BC-9BC2-5750-B7DC-5FEC096B5811}"/>
              </a:ext>
            </a:extLst>
          </p:cNvPr>
          <p:cNvSpPr txBox="1">
            <a:spLocks/>
          </p:cNvSpPr>
          <p:nvPr/>
        </p:nvSpPr>
        <p:spPr>
          <a:xfrm>
            <a:off x="438955" y="330368"/>
            <a:ext cx="5411272" cy="493935"/>
          </a:xfrm>
          <a:prstGeom prst="rect">
            <a:avLst/>
          </a:prstGeom>
        </p:spPr>
        <p:style>
          <a:lnRef idx="1">
            <a:schemeClr val="accent2"/>
          </a:lnRef>
          <a:fillRef idx="3">
            <a:schemeClr val="accent2"/>
          </a:fillRef>
          <a:effectRef idx="2">
            <a:schemeClr val="accent2"/>
          </a:effectRef>
          <a:fontRef idx="minor">
            <a:schemeClr val="lt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400" dirty="0">
                <a:latin typeface="Gotham" pitchFamily="50" charset="0"/>
                <a:cs typeface="Gotham" pitchFamily="50" charset="0"/>
              </a:rPr>
              <a:t>Incorporación de Profesionistas</a:t>
            </a:r>
          </a:p>
        </p:txBody>
      </p:sp>
      <p:sp>
        <p:nvSpPr>
          <p:cNvPr id="6" name="Título 1">
            <a:extLst>
              <a:ext uri="{FF2B5EF4-FFF2-40B4-BE49-F238E27FC236}">
                <a16:creationId xmlns:a16="http://schemas.microsoft.com/office/drawing/2014/main" id="{3658A7DE-2AB5-6C5A-707A-3CAC534A623B}"/>
              </a:ext>
            </a:extLst>
          </p:cNvPr>
          <p:cNvSpPr txBox="1">
            <a:spLocks/>
          </p:cNvSpPr>
          <p:nvPr/>
        </p:nvSpPr>
        <p:spPr>
          <a:xfrm>
            <a:off x="6214055" y="330368"/>
            <a:ext cx="5640947" cy="493935"/>
          </a:xfrm>
          <a:prstGeom prst="rect">
            <a:avLst/>
          </a:prstGeom>
          <a:ln>
            <a:noFill/>
          </a:ln>
        </p:spPr>
        <p:style>
          <a:lnRef idx="2">
            <a:schemeClr val="accent2"/>
          </a:lnRef>
          <a:fillRef idx="1">
            <a:schemeClr val="lt1"/>
          </a:fillRef>
          <a:effectRef idx="0">
            <a:schemeClr val="accent2"/>
          </a:effectRef>
          <a:fontRef idx="minor">
            <a:schemeClr val="dk1"/>
          </a:fontRef>
        </p:style>
        <p:txBody>
          <a:bodyP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400" b="1" dirty="0">
                <a:latin typeface="Gotham" pitchFamily="50" charset="0"/>
                <a:cs typeface="Gotham" pitchFamily="50" charset="0"/>
              </a:rPr>
              <a:t>Nota: </a:t>
            </a:r>
            <a:r>
              <a:rPr lang="es-MX" sz="2400" dirty="0">
                <a:latin typeface="Gotham" pitchFamily="50" charset="0"/>
                <a:cs typeface="Gotham" pitchFamily="50" charset="0"/>
              </a:rPr>
              <a:t>Podrán participar “n” profesionistas, por la cantidad de profesionistas se tendrá que desplegar los mismos requisitos</a:t>
            </a:r>
          </a:p>
        </p:txBody>
      </p:sp>
      <p:sp>
        <p:nvSpPr>
          <p:cNvPr id="10" name="Título 1">
            <a:hlinkClick r:id="rId2" action="ppaction://hlinksldjump"/>
            <a:extLst>
              <a:ext uri="{FF2B5EF4-FFF2-40B4-BE49-F238E27FC236}">
                <a16:creationId xmlns:a16="http://schemas.microsoft.com/office/drawing/2014/main" id="{C832C91B-B171-2589-A174-58A2062000D8}"/>
              </a:ext>
            </a:extLst>
          </p:cNvPr>
          <p:cNvSpPr txBox="1">
            <a:spLocks/>
          </p:cNvSpPr>
          <p:nvPr/>
        </p:nvSpPr>
        <p:spPr>
          <a:xfrm>
            <a:off x="438955" y="1021521"/>
            <a:ext cx="2506012" cy="493935"/>
          </a:xfrm>
          <a:prstGeom prst="rect">
            <a:avLst/>
          </a:prstGeom>
          <a:effectLst>
            <a:outerShdw blurRad="50800" dist="38100" dir="18900000" algn="b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Grado académico</a:t>
            </a:r>
          </a:p>
        </p:txBody>
      </p:sp>
    </p:spTree>
    <p:extLst>
      <p:ext uri="{BB962C8B-B14F-4D97-AF65-F5344CB8AC3E}">
        <p14:creationId xmlns:p14="http://schemas.microsoft.com/office/powerpoint/2010/main" val="256513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299F3-2A33-F2A4-4A44-922651D8A4D3}"/>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12AB06B8-419E-18F3-36C5-EE12A13D904C}"/>
              </a:ext>
            </a:extLst>
          </p:cNvPr>
          <p:cNvSpPr txBox="1">
            <a:spLocks/>
          </p:cNvSpPr>
          <p:nvPr/>
        </p:nvSpPr>
        <p:spPr>
          <a:xfrm>
            <a:off x="539845" y="1128003"/>
            <a:ext cx="2506012" cy="493935"/>
          </a:xfrm>
          <a:prstGeom prst="rect">
            <a:avLst/>
          </a:prstGeom>
          <a:ln>
            <a:noFill/>
          </a:ln>
          <a:effectLst/>
          <a:scene3d>
            <a:camera prst="orthographicFront">
              <a:rot lat="0" lon="0" rev="0"/>
            </a:camera>
            <a:lightRig rig="chilly" dir="t">
              <a:rot lat="0" lon="0" rev="18480000"/>
            </a:lightRig>
          </a:scene3d>
          <a:sp3d prstMaterial="clear">
            <a:bevelT h="63500"/>
          </a:sp3d>
        </p:spPr>
        <p:style>
          <a:lnRef idx="1">
            <a:schemeClr val="accent2"/>
          </a:lnRef>
          <a:fillRef idx="2">
            <a:schemeClr val="accent2"/>
          </a:fillRef>
          <a:effectRef idx="1">
            <a:schemeClr val="accent2"/>
          </a:effectRef>
          <a:fontRef idx="minor">
            <a:schemeClr val="dk1"/>
          </a:fontRef>
        </p:style>
        <p:txBody>
          <a:bodyPr>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Técnico Superior Universitario</a:t>
            </a:r>
          </a:p>
        </p:txBody>
      </p:sp>
      <p:sp>
        <p:nvSpPr>
          <p:cNvPr id="5" name="Título 1">
            <a:extLst>
              <a:ext uri="{FF2B5EF4-FFF2-40B4-BE49-F238E27FC236}">
                <a16:creationId xmlns:a16="http://schemas.microsoft.com/office/drawing/2014/main" id="{092BF229-10FA-0F59-0D90-712815FC2723}"/>
              </a:ext>
            </a:extLst>
          </p:cNvPr>
          <p:cNvSpPr txBox="1">
            <a:spLocks/>
          </p:cNvSpPr>
          <p:nvPr/>
        </p:nvSpPr>
        <p:spPr>
          <a:xfrm>
            <a:off x="3361390" y="1128002"/>
            <a:ext cx="2506012" cy="493935"/>
          </a:xfrm>
          <a:prstGeom prst="rect">
            <a:avLst/>
          </a:prstGeom>
          <a:ln>
            <a:noFill/>
          </a:ln>
          <a:effectLst/>
          <a:scene3d>
            <a:camera prst="orthographicFront">
              <a:rot lat="0" lon="0" rev="0"/>
            </a:camera>
            <a:lightRig rig="chilly" dir="t">
              <a:rot lat="0" lon="0" rev="18480000"/>
            </a:lightRig>
          </a:scene3d>
          <a:sp3d prstMaterial="clear">
            <a:bevelT h="63500"/>
          </a:sp3d>
        </p:spPr>
        <p:style>
          <a:lnRef idx="1">
            <a:schemeClr val="accent2"/>
          </a:lnRef>
          <a:fillRef idx="2">
            <a:schemeClr val="accent2"/>
          </a:fillRef>
          <a:effectRef idx="1">
            <a:schemeClr val="accent2"/>
          </a:effectRef>
          <a:fontRef idx="minor">
            <a:schemeClr val="dk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Licenciatura</a:t>
            </a:r>
          </a:p>
        </p:txBody>
      </p:sp>
      <p:sp>
        <p:nvSpPr>
          <p:cNvPr id="6" name="Título 1">
            <a:extLst>
              <a:ext uri="{FF2B5EF4-FFF2-40B4-BE49-F238E27FC236}">
                <a16:creationId xmlns:a16="http://schemas.microsoft.com/office/drawing/2014/main" id="{9F8FEF38-09FD-A0D0-A79F-A7FE22F626F5}"/>
              </a:ext>
            </a:extLst>
          </p:cNvPr>
          <p:cNvSpPr txBox="1">
            <a:spLocks/>
          </p:cNvSpPr>
          <p:nvPr/>
        </p:nvSpPr>
        <p:spPr>
          <a:xfrm>
            <a:off x="6182935" y="1128001"/>
            <a:ext cx="2506012" cy="493935"/>
          </a:xfrm>
          <a:prstGeom prst="rect">
            <a:avLst/>
          </a:prstGeom>
          <a:ln>
            <a:noFill/>
          </a:ln>
          <a:effectLst/>
          <a:scene3d>
            <a:camera prst="orthographicFront">
              <a:rot lat="0" lon="0" rev="0"/>
            </a:camera>
            <a:lightRig rig="chilly" dir="t">
              <a:rot lat="0" lon="0" rev="18480000"/>
            </a:lightRig>
          </a:scene3d>
          <a:sp3d prstMaterial="clear">
            <a:bevelT h="63500"/>
          </a:sp3d>
        </p:spPr>
        <p:style>
          <a:lnRef idx="1">
            <a:schemeClr val="accent2"/>
          </a:lnRef>
          <a:fillRef idx="2">
            <a:schemeClr val="accent2"/>
          </a:fillRef>
          <a:effectRef idx="1">
            <a:schemeClr val="accent2"/>
          </a:effectRef>
          <a:fontRef idx="minor">
            <a:schemeClr val="dk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Maestría</a:t>
            </a:r>
          </a:p>
        </p:txBody>
      </p:sp>
      <p:sp>
        <p:nvSpPr>
          <p:cNvPr id="7" name="Título 1">
            <a:extLst>
              <a:ext uri="{FF2B5EF4-FFF2-40B4-BE49-F238E27FC236}">
                <a16:creationId xmlns:a16="http://schemas.microsoft.com/office/drawing/2014/main" id="{6FB97FB9-A835-17E8-9158-E0432F030A2E}"/>
              </a:ext>
            </a:extLst>
          </p:cNvPr>
          <p:cNvSpPr txBox="1">
            <a:spLocks/>
          </p:cNvSpPr>
          <p:nvPr/>
        </p:nvSpPr>
        <p:spPr>
          <a:xfrm>
            <a:off x="9320013" y="1128001"/>
            <a:ext cx="2506012" cy="493935"/>
          </a:xfrm>
          <a:prstGeom prst="rect">
            <a:avLst/>
          </a:prstGeom>
          <a:ln>
            <a:noFill/>
          </a:ln>
          <a:effectLst/>
          <a:scene3d>
            <a:camera prst="orthographicFront">
              <a:rot lat="0" lon="0" rev="0"/>
            </a:camera>
            <a:lightRig rig="chilly" dir="t">
              <a:rot lat="0" lon="0" rev="18480000"/>
            </a:lightRig>
          </a:scene3d>
          <a:sp3d prstMaterial="clear">
            <a:bevelT h="63500"/>
          </a:sp3d>
        </p:spPr>
        <p:style>
          <a:lnRef idx="1">
            <a:schemeClr val="accent2"/>
          </a:lnRef>
          <a:fillRef idx="2">
            <a:schemeClr val="accent2"/>
          </a:fillRef>
          <a:effectRef idx="1">
            <a:schemeClr val="accent2"/>
          </a:effectRef>
          <a:fontRef idx="minor">
            <a:schemeClr val="dk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Doctorado</a:t>
            </a:r>
          </a:p>
        </p:txBody>
      </p:sp>
      <p:sp>
        <p:nvSpPr>
          <p:cNvPr id="13" name="Título 1">
            <a:extLst>
              <a:ext uri="{FF2B5EF4-FFF2-40B4-BE49-F238E27FC236}">
                <a16:creationId xmlns:a16="http://schemas.microsoft.com/office/drawing/2014/main" id="{10D0DEAD-1AD8-F7C5-59F6-F0DACA9062ED}"/>
              </a:ext>
            </a:extLst>
          </p:cNvPr>
          <p:cNvSpPr txBox="1">
            <a:spLocks/>
          </p:cNvSpPr>
          <p:nvPr/>
        </p:nvSpPr>
        <p:spPr>
          <a:xfrm>
            <a:off x="539845" y="1820397"/>
            <a:ext cx="2506012" cy="493935"/>
          </a:xfrm>
          <a:prstGeom prst="rect">
            <a:avLst/>
          </a:prstGeom>
          <a:effectLst>
            <a:outerShdw blurRad="50800" dist="38100" dir="18900000" algn="b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Núm. de persona profesionista experta</a:t>
            </a:r>
          </a:p>
        </p:txBody>
      </p:sp>
      <p:sp>
        <p:nvSpPr>
          <p:cNvPr id="14" name="Título 1">
            <a:extLst>
              <a:ext uri="{FF2B5EF4-FFF2-40B4-BE49-F238E27FC236}">
                <a16:creationId xmlns:a16="http://schemas.microsoft.com/office/drawing/2014/main" id="{6675D950-B70B-DC06-1065-A64D2DAA031D}"/>
              </a:ext>
            </a:extLst>
          </p:cNvPr>
          <p:cNvSpPr txBox="1">
            <a:spLocks/>
          </p:cNvSpPr>
          <p:nvPr/>
        </p:nvSpPr>
        <p:spPr>
          <a:xfrm>
            <a:off x="9320013" y="1799361"/>
            <a:ext cx="2506012" cy="493935"/>
          </a:xfrm>
          <a:prstGeom prst="rect">
            <a:avLst/>
          </a:prstGeom>
          <a:effectLst>
            <a:outerShdw blurRad="50800" dist="38100" dir="18900000" algn="b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Núm. de persona profesionista experta</a:t>
            </a:r>
          </a:p>
        </p:txBody>
      </p:sp>
      <p:sp>
        <p:nvSpPr>
          <p:cNvPr id="15" name="Título 1">
            <a:extLst>
              <a:ext uri="{FF2B5EF4-FFF2-40B4-BE49-F238E27FC236}">
                <a16:creationId xmlns:a16="http://schemas.microsoft.com/office/drawing/2014/main" id="{042865A1-513E-3CBD-7900-98F6ED129790}"/>
              </a:ext>
            </a:extLst>
          </p:cNvPr>
          <p:cNvSpPr txBox="1">
            <a:spLocks/>
          </p:cNvSpPr>
          <p:nvPr/>
        </p:nvSpPr>
        <p:spPr>
          <a:xfrm>
            <a:off x="6182935" y="1799362"/>
            <a:ext cx="2506012" cy="493935"/>
          </a:xfrm>
          <a:prstGeom prst="rect">
            <a:avLst/>
          </a:prstGeom>
          <a:effectLst>
            <a:outerShdw blurRad="50800" dist="38100" dir="18900000" algn="b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Núm. de persona profesionista experta</a:t>
            </a:r>
          </a:p>
        </p:txBody>
      </p:sp>
      <p:sp>
        <p:nvSpPr>
          <p:cNvPr id="16" name="Título 1">
            <a:extLst>
              <a:ext uri="{FF2B5EF4-FFF2-40B4-BE49-F238E27FC236}">
                <a16:creationId xmlns:a16="http://schemas.microsoft.com/office/drawing/2014/main" id="{3D322039-C43D-140E-8695-34E02DF572A1}"/>
              </a:ext>
            </a:extLst>
          </p:cNvPr>
          <p:cNvSpPr txBox="1">
            <a:spLocks/>
          </p:cNvSpPr>
          <p:nvPr/>
        </p:nvSpPr>
        <p:spPr>
          <a:xfrm>
            <a:off x="3361390" y="1820395"/>
            <a:ext cx="2506012" cy="493935"/>
          </a:xfrm>
          <a:prstGeom prst="rect">
            <a:avLst/>
          </a:prstGeom>
          <a:effectLst>
            <a:outerShdw blurRad="50800" dist="38100" dir="18900000" algn="b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Núm. de persona profesionista experta</a:t>
            </a:r>
          </a:p>
        </p:txBody>
      </p:sp>
      <p:sp>
        <p:nvSpPr>
          <p:cNvPr id="17" name="Título 1">
            <a:extLst>
              <a:ext uri="{FF2B5EF4-FFF2-40B4-BE49-F238E27FC236}">
                <a16:creationId xmlns:a16="http://schemas.microsoft.com/office/drawing/2014/main" id="{D813867E-2047-2D4E-3ADF-D596E9305C38}"/>
              </a:ext>
            </a:extLst>
          </p:cNvPr>
          <p:cNvSpPr txBox="1">
            <a:spLocks/>
          </p:cNvSpPr>
          <p:nvPr/>
        </p:nvSpPr>
        <p:spPr>
          <a:xfrm>
            <a:off x="539845" y="453093"/>
            <a:ext cx="2506012" cy="493935"/>
          </a:xfrm>
          <a:prstGeom prst="rect">
            <a:avLst/>
          </a:prstGeom>
          <a:effectLst>
            <a:outerShdw blurRad="50800" dist="38100" dir="18900000" algn="b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Grado académico</a:t>
            </a:r>
          </a:p>
        </p:txBody>
      </p:sp>
      <p:sp>
        <p:nvSpPr>
          <p:cNvPr id="18" name="Título 1">
            <a:extLst>
              <a:ext uri="{FF2B5EF4-FFF2-40B4-BE49-F238E27FC236}">
                <a16:creationId xmlns:a16="http://schemas.microsoft.com/office/drawing/2014/main" id="{11630EBB-A0D7-4F23-A1DB-FEDFDEDDEEB5}"/>
              </a:ext>
            </a:extLst>
          </p:cNvPr>
          <p:cNvSpPr txBox="1">
            <a:spLocks/>
          </p:cNvSpPr>
          <p:nvPr/>
        </p:nvSpPr>
        <p:spPr>
          <a:xfrm>
            <a:off x="539845" y="2512791"/>
            <a:ext cx="2506012" cy="493935"/>
          </a:xfrm>
          <a:prstGeom prst="rect">
            <a:avLst/>
          </a:prstGeom>
          <a:effectLst>
            <a:outerShdw blurRad="50800" dist="38100" dir="18900000" algn="b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a:normAutofit fontScale="6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Nombre(s) de persona profesionista experta(s)</a:t>
            </a:r>
          </a:p>
        </p:txBody>
      </p:sp>
      <p:sp>
        <p:nvSpPr>
          <p:cNvPr id="19" name="Título 1">
            <a:extLst>
              <a:ext uri="{FF2B5EF4-FFF2-40B4-BE49-F238E27FC236}">
                <a16:creationId xmlns:a16="http://schemas.microsoft.com/office/drawing/2014/main" id="{6FEB0386-750E-F670-28D5-1F432B2D61A0}"/>
              </a:ext>
            </a:extLst>
          </p:cNvPr>
          <p:cNvSpPr txBox="1">
            <a:spLocks/>
          </p:cNvSpPr>
          <p:nvPr/>
        </p:nvSpPr>
        <p:spPr>
          <a:xfrm>
            <a:off x="9320013" y="2445664"/>
            <a:ext cx="2506012" cy="493935"/>
          </a:xfrm>
          <a:prstGeom prst="rect">
            <a:avLst/>
          </a:prstGeom>
          <a:effectLst>
            <a:outerShdw blurRad="50800" dist="38100" dir="18900000" algn="b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a:normAutofit fontScale="6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Nombre(s) de persona profesionista experta(s)</a:t>
            </a:r>
          </a:p>
        </p:txBody>
      </p:sp>
      <p:sp>
        <p:nvSpPr>
          <p:cNvPr id="20" name="Título 1">
            <a:extLst>
              <a:ext uri="{FF2B5EF4-FFF2-40B4-BE49-F238E27FC236}">
                <a16:creationId xmlns:a16="http://schemas.microsoft.com/office/drawing/2014/main" id="{07843BF1-1F5B-4871-3728-D61661514309}"/>
              </a:ext>
            </a:extLst>
          </p:cNvPr>
          <p:cNvSpPr txBox="1">
            <a:spLocks/>
          </p:cNvSpPr>
          <p:nvPr/>
        </p:nvSpPr>
        <p:spPr>
          <a:xfrm>
            <a:off x="6182935" y="2470723"/>
            <a:ext cx="2506012" cy="493935"/>
          </a:xfrm>
          <a:prstGeom prst="rect">
            <a:avLst/>
          </a:prstGeom>
          <a:effectLst>
            <a:outerShdw blurRad="50800" dist="38100" dir="18900000" algn="b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a:normAutofit fontScale="6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Nombre(s) de persona profesionista experta(s)</a:t>
            </a:r>
          </a:p>
        </p:txBody>
      </p:sp>
      <p:sp>
        <p:nvSpPr>
          <p:cNvPr id="21" name="Título 1">
            <a:extLst>
              <a:ext uri="{FF2B5EF4-FFF2-40B4-BE49-F238E27FC236}">
                <a16:creationId xmlns:a16="http://schemas.microsoft.com/office/drawing/2014/main" id="{5FABC92D-060A-26A8-60C2-7AF9998C5ED6}"/>
              </a:ext>
            </a:extLst>
          </p:cNvPr>
          <p:cNvSpPr txBox="1">
            <a:spLocks/>
          </p:cNvSpPr>
          <p:nvPr/>
        </p:nvSpPr>
        <p:spPr>
          <a:xfrm>
            <a:off x="3361390" y="2512791"/>
            <a:ext cx="2506012" cy="493935"/>
          </a:xfrm>
          <a:prstGeom prst="rect">
            <a:avLst/>
          </a:prstGeom>
          <a:effectLst>
            <a:outerShdw blurRad="50800" dist="38100" dir="18900000" algn="b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a:normAutofit fontScale="6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Nombre(s) de persona profesionista experta(s)</a:t>
            </a:r>
          </a:p>
        </p:txBody>
      </p:sp>
      <p:sp>
        <p:nvSpPr>
          <p:cNvPr id="22" name="Título 1">
            <a:extLst>
              <a:ext uri="{FF2B5EF4-FFF2-40B4-BE49-F238E27FC236}">
                <a16:creationId xmlns:a16="http://schemas.microsoft.com/office/drawing/2014/main" id="{FA6EB2E9-627E-4BFE-AE31-EFC7C6399EB6}"/>
              </a:ext>
            </a:extLst>
          </p:cNvPr>
          <p:cNvSpPr txBox="1">
            <a:spLocks/>
          </p:cNvSpPr>
          <p:nvPr/>
        </p:nvSpPr>
        <p:spPr>
          <a:xfrm>
            <a:off x="539845" y="3205185"/>
            <a:ext cx="2506012" cy="493935"/>
          </a:xfrm>
          <a:prstGeom prst="rect">
            <a:avLst/>
          </a:prstGeom>
          <a:effectLst>
            <a:outerShdw blurRad="50800" dist="38100" dir="18900000" algn="b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Apoyo solicitado mensual por persona profesionista experta , máximo</a:t>
            </a:r>
          </a:p>
        </p:txBody>
      </p:sp>
      <p:sp>
        <p:nvSpPr>
          <p:cNvPr id="23" name="Título 1">
            <a:extLst>
              <a:ext uri="{FF2B5EF4-FFF2-40B4-BE49-F238E27FC236}">
                <a16:creationId xmlns:a16="http://schemas.microsoft.com/office/drawing/2014/main" id="{5B4837B2-CAC7-6BBD-4A09-6A2B71C1DB80}"/>
              </a:ext>
            </a:extLst>
          </p:cNvPr>
          <p:cNvSpPr txBox="1">
            <a:spLocks/>
          </p:cNvSpPr>
          <p:nvPr/>
        </p:nvSpPr>
        <p:spPr>
          <a:xfrm>
            <a:off x="3361390" y="3205184"/>
            <a:ext cx="2506012" cy="493935"/>
          </a:xfrm>
          <a:prstGeom prst="rect">
            <a:avLst/>
          </a:prstGeom>
          <a:effectLst>
            <a:outerShdw blurRad="50800" dist="38100" dir="18900000" algn="b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Apoyo solicitado mensual por persona profesionista experta , máximo</a:t>
            </a:r>
          </a:p>
        </p:txBody>
      </p:sp>
      <p:sp>
        <p:nvSpPr>
          <p:cNvPr id="24" name="Título 1">
            <a:extLst>
              <a:ext uri="{FF2B5EF4-FFF2-40B4-BE49-F238E27FC236}">
                <a16:creationId xmlns:a16="http://schemas.microsoft.com/office/drawing/2014/main" id="{C9FB0240-5739-D86A-2783-700AF2060448}"/>
              </a:ext>
            </a:extLst>
          </p:cNvPr>
          <p:cNvSpPr txBox="1">
            <a:spLocks/>
          </p:cNvSpPr>
          <p:nvPr/>
        </p:nvSpPr>
        <p:spPr>
          <a:xfrm>
            <a:off x="6182935" y="3163368"/>
            <a:ext cx="2506012" cy="493935"/>
          </a:xfrm>
          <a:prstGeom prst="rect">
            <a:avLst/>
          </a:prstGeom>
          <a:effectLst>
            <a:outerShdw blurRad="50800" dist="38100" dir="18900000" algn="b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Apoyo solicitado mensual por persona profesionista experta , máximo</a:t>
            </a:r>
          </a:p>
        </p:txBody>
      </p:sp>
      <p:sp>
        <p:nvSpPr>
          <p:cNvPr id="25" name="Título 1">
            <a:extLst>
              <a:ext uri="{FF2B5EF4-FFF2-40B4-BE49-F238E27FC236}">
                <a16:creationId xmlns:a16="http://schemas.microsoft.com/office/drawing/2014/main" id="{7D0D9764-86FF-434D-7B68-B86A026F94A9}"/>
              </a:ext>
            </a:extLst>
          </p:cNvPr>
          <p:cNvSpPr txBox="1">
            <a:spLocks/>
          </p:cNvSpPr>
          <p:nvPr/>
        </p:nvSpPr>
        <p:spPr>
          <a:xfrm>
            <a:off x="9320013" y="3126383"/>
            <a:ext cx="2506012" cy="493935"/>
          </a:xfrm>
          <a:prstGeom prst="rect">
            <a:avLst/>
          </a:prstGeom>
          <a:effectLst>
            <a:outerShdw blurRad="50800" dist="38100" dir="18900000" algn="b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Apoyo solicitado mensual por persona profesionista experta , máximo</a:t>
            </a:r>
          </a:p>
        </p:txBody>
      </p:sp>
      <p:sp>
        <p:nvSpPr>
          <p:cNvPr id="26" name="Título 1">
            <a:extLst>
              <a:ext uri="{FF2B5EF4-FFF2-40B4-BE49-F238E27FC236}">
                <a16:creationId xmlns:a16="http://schemas.microsoft.com/office/drawing/2014/main" id="{CAEB9D4B-B3AB-742C-AC5D-80A42487D650}"/>
              </a:ext>
            </a:extLst>
          </p:cNvPr>
          <p:cNvSpPr txBox="1">
            <a:spLocks/>
          </p:cNvSpPr>
          <p:nvPr/>
        </p:nvSpPr>
        <p:spPr>
          <a:xfrm>
            <a:off x="728199" y="3650611"/>
            <a:ext cx="2129305" cy="493935"/>
          </a:xfrm>
          <a:prstGeom prst="rect">
            <a:avLst/>
          </a:prstGeom>
        </p:spPr>
        <p:style>
          <a:lnRef idx="2">
            <a:schemeClr val="accent2"/>
          </a:lnRef>
          <a:fillRef idx="1">
            <a:schemeClr val="lt1"/>
          </a:fillRef>
          <a:effectRef idx="0">
            <a:schemeClr val="accent2"/>
          </a:effectRef>
          <a:fontRef idx="minor">
            <a:schemeClr val="dk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solidFill>
                  <a:schemeClr val="accent2">
                    <a:lumMod val="50000"/>
                  </a:schemeClr>
                </a:solidFill>
                <a:latin typeface="Gotham" pitchFamily="50" charset="0"/>
                <a:cs typeface="Gotham" pitchFamily="50" charset="0"/>
              </a:rPr>
              <a:t>$10,500.00</a:t>
            </a:r>
          </a:p>
        </p:txBody>
      </p:sp>
      <p:sp>
        <p:nvSpPr>
          <p:cNvPr id="27" name="Título 1">
            <a:extLst>
              <a:ext uri="{FF2B5EF4-FFF2-40B4-BE49-F238E27FC236}">
                <a16:creationId xmlns:a16="http://schemas.microsoft.com/office/drawing/2014/main" id="{E8540C1C-1AF6-A78D-8A02-4BFF3DE01590}"/>
              </a:ext>
            </a:extLst>
          </p:cNvPr>
          <p:cNvSpPr txBox="1">
            <a:spLocks/>
          </p:cNvSpPr>
          <p:nvPr/>
        </p:nvSpPr>
        <p:spPr>
          <a:xfrm>
            <a:off x="9508366" y="3586425"/>
            <a:ext cx="2129305" cy="493935"/>
          </a:xfrm>
          <a:prstGeom prst="rect">
            <a:avLst/>
          </a:prstGeom>
        </p:spPr>
        <p:style>
          <a:lnRef idx="2">
            <a:schemeClr val="accent2"/>
          </a:lnRef>
          <a:fillRef idx="1">
            <a:schemeClr val="lt1"/>
          </a:fillRef>
          <a:effectRef idx="0">
            <a:schemeClr val="accent2"/>
          </a:effectRef>
          <a:fontRef idx="minor">
            <a:schemeClr val="dk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solidFill>
                  <a:schemeClr val="accent2">
                    <a:lumMod val="50000"/>
                  </a:schemeClr>
                </a:solidFill>
                <a:latin typeface="Gotham" pitchFamily="50" charset="0"/>
                <a:cs typeface="Gotham" pitchFamily="50" charset="0"/>
              </a:rPr>
              <a:t>$24,500.00</a:t>
            </a:r>
          </a:p>
        </p:txBody>
      </p:sp>
      <p:sp>
        <p:nvSpPr>
          <p:cNvPr id="28" name="Título 1">
            <a:extLst>
              <a:ext uri="{FF2B5EF4-FFF2-40B4-BE49-F238E27FC236}">
                <a16:creationId xmlns:a16="http://schemas.microsoft.com/office/drawing/2014/main" id="{BC7C5044-22E3-F584-9B79-DD49531DDC79}"/>
              </a:ext>
            </a:extLst>
          </p:cNvPr>
          <p:cNvSpPr txBox="1">
            <a:spLocks/>
          </p:cNvSpPr>
          <p:nvPr/>
        </p:nvSpPr>
        <p:spPr>
          <a:xfrm>
            <a:off x="6400257" y="3645600"/>
            <a:ext cx="2129305" cy="493935"/>
          </a:xfrm>
          <a:prstGeom prst="rect">
            <a:avLst/>
          </a:prstGeom>
        </p:spPr>
        <p:style>
          <a:lnRef idx="2">
            <a:schemeClr val="accent2"/>
          </a:lnRef>
          <a:fillRef idx="1">
            <a:schemeClr val="lt1"/>
          </a:fillRef>
          <a:effectRef idx="0">
            <a:schemeClr val="accent2"/>
          </a:effectRef>
          <a:fontRef idx="minor">
            <a:schemeClr val="dk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solidFill>
                  <a:schemeClr val="accent2">
                    <a:lumMod val="50000"/>
                  </a:schemeClr>
                </a:solidFill>
                <a:latin typeface="Gotham" pitchFamily="50" charset="0"/>
                <a:cs typeface="Gotham" pitchFamily="50" charset="0"/>
              </a:rPr>
              <a:t>$17,500.00</a:t>
            </a:r>
          </a:p>
        </p:txBody>
      </p:sp>
      <p:sp>
        <p:nvSpPr>
          <p:cNvPr id="29" name="Título 1">
            <a:extLst>
              <a:ext uri="{FF2B5EF4-FFF2-40B4-BE49-F238E27FC236}">
                <a16:creationId xmlns:a16="http://schemas.microsoft.com/office/drawing/2014/main" id="{DAEC98E3-E45C-66C6-1238-67122B6BCF35}"/>
              </a:ext>
            </a:extLst>
          </p:cNvPr>
          <p:cNvSpPr txBox="1">
            <a:spLocks/>
          </p:cNvSpPr>
          <p:nvPr/>
        </p:nvSpPr>
        <p:spPr>
          <a:xfrm>
            <a:off x="3564228" y="3660651"/>
            <a:ext cx="2129305" cy="493935"/>
          </a:xfrm>
          <a:prstGeom prst="rect">
            <a:avLst/>
          </a:prstGeom>
        </p:spPr>
        <p:style>
          <a:lnRef idx="2">
            <a:schemeClr val="accent2"/>
          </a:lnRef>
          <a:fillRef idx="1">
            <a:schemeClr val="lt1"/>
          </a:fillRef>
          <a:effectRef idx="0">
            <a:schemeClr val="accent2"/>
          </a:effectRef>
          <a:fontRef idx="minor">
            <a:schemeClr val="dk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solidFill>
                  <a:schemeClr val="accent2">
                    <a:lumMod val="50000"/>
                  </a:schemeClr>
                </a:solidFill>
                <a:latin typeface="Gotham" pitchFamily="50" charset="0"/>
                <a:cs typeface="Gotham" pitchFamily="50" charset="0"/>
              </a:rPr>
              <a:t>$10,500.00</a:t>
            </a:r>
          </a:p>
        </p:txBody>
      </p:sp>
      <p:sp>
        <p:nvSpPr>
          <p:cNvPr id="30" name="Título 1">
            <a:extLst>
              <a:ext uri="{FF2B5EF4-FFF2-40B4-BE49-F238E27FC236}">
                <a16:creationId xmlns:a16="http://schemas.microsoft.com/office/drawing/2014/main" id="{4126B01A-4301-EED2-B316-53D4528D3B3B}"/>
              </a:ext>
            </a:extLst>
          </p:cNvPr>
          <p:cNvSpPr txBox="1">
            <a:spLocks/>
          </p:cNvSpPr>
          <p:nvPr/>
        </p:nvSpPr>
        <p:spPr>
          <a:xfrm>
            <a:off x="539845" y="4306635"/>
            <a:ext cx="2506012" cy="493935"/>
          </a:xfrm>
          <a:prstGeom prst="rect">
            <a:avLst/>
          </a:prstGeom>
          <a:effectLst>
            <a:outerShdw blurRad="50800" dist="38100" dir="18900000" algn="b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Apoyo concurrente mensual,  por persona profesionista experta</a:t>
            </a:r>
          </a:p>
        </p:txBody>
      </p:sp>
      <p:sp>
        <p:nvSpPr>
          <p:cNvPr id="31" name="Título 1">
            <a:extLst>
              <a:ext uri="{FF2B5EF4-FFF2-40B4-BE49-F238E27FC236}">
                <a16:creationId xmlns:a16="http://schemas.microsoft.com/office/drawing/2014/main" id="{7641B20D-E584-854E-1087-B88646B1D100}"/>
              </a:ext>
            </a:extLst>
          </p:cNvPr>
          <p:cNvSpPr txBox="1">
            <a:spLocks/>
          </p:cNvSpPr>
          <p:nvPr/>
        </p:nvSpPr>
        <p:spPr>
          <a:xfrm>
            <a:off x="9320013" y="4277753"/>
            <a:ext cx="2506012" cy="493935"/>
          </a:xfrm>
          <a:prstGeom prst="rect">
            <a:avLst/>
          </a:prstGeom>
          <a:effectLst>
            <a:outerShdw blurRad="50800" dist="38100" dir="18900000" algn="b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Apoyo concurrente mensual,  por persona profesionista experta</a:t>
            </a:r>
          </a:p>
        </p:txBody>
      </p:sp>
      <p:sp>
        <p:nvSpPr>
          <p:cNvPr id="32" name="Título 1">
            <a:extLst>
              <a:ext uri="{FF2B5EF4-FFF2-40B4-BE49-F238E27FC236}">
                <a16:creationId xmlns:a16="http://schemas.microsoft.com/office/drawing/2014/main" id="{20D166E2-0D82-EA70-83E6-930CA8500E75}"/>
              </a:ext>
            </a:extLst>
          </p:cNvPr>
          <p:cNvSpPr txBox="1">
            <a:spLocks/>
          </p:cNvSpPr>
          <p:nvPr/>
        </p:nvSpPr>
        <p:spPr>
          <a:xfrm>
            <a:off x="6182935" y="4306634"/>
            <a:ext cx="2506012" cy="493935"/>
          </a:xfrm>
          <a:prstGeom prst="rect">
            <a:avLst/>
          </a:prstGeom>
          <a:effectLst>
            <a:outerShdw blurRad="50800" dist="38100" dir="18900000" algn="b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Apoyo concurrente mensual,  por persona profesionista experta</a:t>
            </a:r>
          </a:p>
        </p:txBody>
      </p:sp>
      <p:sp>
        <p:nvSpPr>
          <p:cNvPr id="33" name="Título 1">
            <a:extLst>
              <a:ext uri="{FF2B5EF4-FFF2-40B4-BE49-F238E27FC236}">
                <a16:creationId xmlns:a16="http://schemas.microsoft.com/office/drawing/2014/main" id="{2F0A91CE-6F8D-26A5-2884-A2B4B5F4F47E}"/>
              </a:ext>
            </a:extLst>
          </p:cNvPr>
          <p:cNvSpPr txBox="1">
            <a:spLocks/>
          </p:cNvSpPr>
          <p:nvPr/>
        </p:nvSpPr>
        <p:spPr>
          <a:xfrm>
            <a:off x="3361390" y="4329147"/>
            <a:ext cx="2506012" cy="493935"/>
          </a:xfrm>
          <a:prstGeom prst="rect">
            <a:avLst/>
          </a:prstGeom>
          <a:effectLst>
            <a:outerShdw blurRad="50800" dist="38100" dir="18900000" algn="b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Apoyo concurrente mensual,  por persona profesionista experta</a:t>
            </a:r>
          </a:p>
        </p:txBody>
      </p:sp>
      <p:sp>
        <p:nvSpPr>
          <p:cNvPr id="34" name="Título 1">
            <a:extLst>
              <a:ext uri="{FF2B5EF4-FFF2-40B4-BE49-F238E27FC236}">
                <a16:creationId xmlns:a16="http://schemas.microsoft.com/office/drawing/2014/main" id="{FACA3FE6-FF8E-BE8A-BD39-3A440ED88D1E}"/>
              </a:ext>
            </a:extLst>
          </p:cNvPr>
          <p:cNvSpPr txBox="1">
            <a:spLocks/>
          </p:cNvSpPr>
          <p:nvPr/>
        </p:nvSpPr>
        <p:spPr>
          <a:xfrm>
            <a:off x="839277" y="4737796"/>
            <a:ext cx="2103548" cy="493935"/>
          </a:xfrm>
          <a:prstGeom prst="rect">
            <a:avLst/>
          </a:prstGeom>
        </p:spPr>
        <p:style>
          <a:lnRef idx="2">
            <a:schemeClr val="accent2"/>
          </a:lnRef>
          <a:fillRef idx="1">
            <a:schemeClr val="lt1"/>
          </a:fillRef>
          <a:effectRef idx="0">
            <a:schemeClr val="accent2"/>
          </a:effectRef>
          <a:fontRef idx="minor">
            <a:schemeClr val="dk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solidFill>
                  <a:schemeClr val="accent2">
                    <a:lumMod val="50000"/>
                  </a:schemeClr>
                </a:solidFill>
                <a:latin typeface="Gotham" pitchFamily="50" charset="0"/>
                <a:cs typeface="Gotham" pitchFamily="50" charset="0"/>
              </a:rPr>
              <a:t>$4,500.00</a:t>
            </a:r>
          </a:p>
        </p:txBody>
      </p:sp>
      <p:sp>
        <p:nvSpPr>
          <p:cNvPr id="35" name="Título 1">
            <a:extLst>
              <a:ext uri="{FF2B5EF4-FFF2-40B4-BE49-F238E27FC236}">
                <a16:creationId xmlns:a16="http://schemas.microsoft.com/office/drawing/2014/main" id="{1DFC4EE9-F72D-1E5A-E70E-1305E4E55BA5}"/>
              </a:ext>
            </a:extLst>
          </p:cNvPr>
          <p:cNvSpPr txBox="1">
            <a:spLocks/>
          </p:cNvSpPr>
          <p:nvPr/>
        </p:nvSpPr>
        <p:spPr>
          <a:xfrm>
            <a:off x="9548607" y="4737795"/>
            <a:ext cx="2103548" cy="493935"/>
          </a:xfrm>
          <a:prstGeom prst="rect">
            <a:avLst/>
          </a:prstGeom>
        </p:spPr>
        <p:style>
          <a:lnRef idx="2">
            <a:schemeClr val="accent2"/>
          </a:lnRef>
          <a:fillRef idx="1">
            <a:schemeClr val="lt1"/>
          </a:fillRef>
          <a:effectRef idx="0">
            <a:schemeClr val="accent2"/>
          </a:effectRef>
          <a:fontRef idx="minor">
            <a:schemeClr val="dk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solidFill>
                  <a:schemeClr val="accent2">
                    <a:lumMod val="50000"/>
                  </a:schemeClr>
                </a:solidFill>
                <a:latin typeface="Gotham" pitchFamily="50" charset="0"/>
                <a:cs typeface="Gotham" pitchFamily="50" charset="0"/>
              </a:rPr>
              <a:t>$10,500.00</a:t>
            </a:r>
          </a:p>
        </p:txBody>
      </p:sp>
      <p:sp>
        <p:nvSpPr>
          <p:cNvPr id="36" name="Título 1">
            <a:extLst>
              <a:ext uri="{FF2B5EF4-FFF2-40B4-BE49-F238E27FC236}">
                <a16:creationId xmlns:a16="http://schemas.microsoft.com/office/drawing/2014/main" id="{4CFA7B05-7515-8857-FA06-EA315CFD76F6}"/>
              </a:ext>
            </a:extLst>
          </p:cNvPr>
          <p:cNvSpPr txBox="1">
            <a:spLocks/>
          </p:cNvSpPr>
          <p:nvPr/>
        </p:nvSpPr>
        <p:spPr>
          <a:xfrm>
            <a:off x="6498468" y="4720700"/>
            <a:ext cx="2103548" cy="493935"/>
          </a:xfrm>
          <a:prstGeom prst="rect">
            <a:avLst/>
          </a:prstGeom>
        </p:spPr>
        <p:style>
          <a:lnRef idx="2">
            <a:schemeClr val="accent2"/>
          </a:lnRef>
          <a:fillRef idx="1">
            <a:schemeClr val="lt1"/>
          </a:fillRef>
          <a:effectRef idx="0">
            <a:schemeClr val="accent2"/>
          </a:effectRef>
          <a:fontRef idx="minor">
            <a:schemeClr val="dk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solidFill>
                  <a:schemeClr val="accent2">
                    <a:lumMod val="50000"/>
                  </a:schemeClr>
                </a:solidFill>
                <a:latin typeface="Gotham" pitchFamily="50" charset="0"/>
                <a:cs typeface="Gotham" pitchFamily="50" charset="0"/>
              </a:rPr>
              <a:t>$7,500.00</a:t>
            </a:r>
          </a:p>
        </p:txBody>
      </p:sp>
      <p:sp>
        <p:nvSpPr>
          <p:cNvPr id="37" name="Título 1">
            <a:extLst>
              <a:ext uri="{FF2B5EF4-FFF2-40B4-BE49-F238E27FC236}">
                <a16:creationId xmlns:a16="http://schemas.microsoft.com/office/drawing/2014/main" id="{16D628B4-85D0-6D26-329F-715C0ECBCFC5}"/>
              </a:ext>
            </a:extLst>
          </p:cNvPr>
          <p:cNvSpPr txBox="1">
            <a:spLocks/>
          </p:cNvSpPr>
          <p:nvPr/>
        </p:nvSpPr>
        <p:spPr>
          <a:xfrm>
            <a:off x="3676923" y="4750675"/>
            <a:ext cx="2103548" cy="493935"/>
          </a:xfrm>
          <a:prstGeom prst="rect">
            <a:avLst/>
          </a:prstGeom>
        </p:spPr>
        <p:style>
          <a:lnRef idx="2">
            <a:schemeClr val="accent2"/>
          </a:lnRef>
          <a:fillRef idx="1">
            <a:schemeClr val="lt1"/>
          </a:fillRef>
          <a:effectRef idx="0">
            <a:schemeClr val="accent2"/>
          </a:effectRef>
          <a:fontRef idx="minor">
            <a:schemeClr val="dk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solidFill>
                  <a:schemeClr val="accent2">
                    <a:lumMod val="50000"/>
                  </a:schemeClr>
                </a:solidFill>
                <a:latin typeface="Gotham" pitchFamily="50" charset="0"/>
                <a:cs typeface="Gotham" pitchFamily="50" charset="0"/>
              </a:rPr>
              <a:t>$4,500.00</a:t>
            </a:r>
          </a:p>
        </p:txBody>
      </p:sp>
      <p:sp>
        <p:nvSpPr>
          <p:cNvPr id="38" name="Título 1">
            <a:extLst>
              <a:ext uri="{FF2B5EF4-FFF2-40B4-BE49-F238E27FC236}">
                <a16:creationId xmlns:a16="http://schemas.microsoft.com/office/drawing/2014/main" id="{78FD2097-3306-8C9C-AD24-67317CE445F4}"/>
              </a:ext>
            </a:extLst>
          </p:cNvPr>
          <p:cNvSpPr txBox="1">
            <a:spLocks/>
          </p:cNvSpPr>
          <p:nvPr/>
        </p:nvSpPr>
        <p:spPr>
          <a:xfrm>
            <a:off x="539845" y="5415924"/>
            <a:ext cx="2506012" cy="493935"/>
          </a:xfrm>
          <a:prstGeom prst="rect">
            <a:avLst/>
          </a:prstGeom>
          <a:effectLst>
            <a:outerShdw blurRad="50800" dist="38100" dir="18900000" algn="b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Periodo máximo de participación, por persona profesionista experta </a:t>
            </a:r>
          </a:p>
        </p:txBody>
      </p:sp>
      <p:sp>
        <p:nvSpPr>
          <p:cNvPr id="39" name="Título 1">
            <a:extLst>
              <a:ext uri="{FF2B5EF4-FFF2-40B4-BE49-F238E27FC236}">
                <a16:creationId xmlns:a16="http://schemas.microsoft.com/office/drawing/2014/main" id="{20A7CC29-F7F8-42F9-C861-055650633382}"/>
              </a:ext>
            </a:extLst>
          </p:cNvPr>
          <p:cNvSpPr txBox="1">
            <a:spLocks/>
          </p:cNvSpPr>
          <p:nvPr/>
        </p:nvSpPr>
        <p:spPr>
          <a:xfrm>
            <a:off x="9347375" y="5339282"/>
            <a:ext cx="2506012" cy="493935"/>
          </a:xfrm>
          <a:prstGeom prst="rect">
            <a:avLst/>
          </a:prstGeom>
          <a:effectLst>
            <a:outerShdw blurRad="50800" dist="38100" dir="18900000" algn="b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Periodo máximo de participación, por persona profesionista experta </a:t>
            </a:r>
          </a:p>
        </p:txBody>
      </p:sp>
      <p:sp>
        <p:nvSpPr>
          <p:cNvPr id="40" name="Título 1">
            <a:extLst>
              <a:ext uri="{FF2B5EF4-FFF2-40B4-BE49-F238E27FC236}">
                <a16:creationId xmlns:a16="http://schemas.microsoft.com/office/drawing/2014/main" id="{8F3E03B5-DAA1-32AD-60D6-81758B854B7C}"/>
              </a:ext>
            </a:extLst>
          </p:cNvPr>
          <p:cNvSpPr txBox="1">
            <a:spLocks/>
          </p:cNvSpPr>
          <p:nvPr/>
        </p:nvSpPr>
        <p:spPr>
          <a:xfrm>
            <a:off x="6211903" y="5381733"/>
            <a:ext cx="2506012" cy="493935"/>
          </a:xfrm>
          <a:prstGeom prst="rect">
            <a:avLst/>
          </a:prstGeom>
          <a:effectLst>
            <a:outerShdw blurRad="50800" dist="38100" dir="18900000" algn="b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Periodo máximo de participación, por persona profesionista experta </a:t>
            </a:r>
          </a:p>
        </p:txBody>
      </p:sp>
      <p:sp>
        <p:nvSpPr>
          <p:cNvPr id="41" name="Título 1">
            <a:extLst>
              <a:ext uri="{FF2B5EF4-FFF2-40B4-BE49-F238E27FC236}">
                <a16:creationId xmlns:a16="http://schemas.microsoft.com/office/drawing/2014/main" id="{8A0E6B94-8DF0-4316-9104-734FECAFCDDF}"/>
              </a:ext>
            </a:extLst>
          </p:cNvPr>
          <p:cNvSpPr txBox="1">
            <a:spLocks/>
          </p:cNvSpPr>
          <p:nvPr/>
        </p:nvSpPr>
        <p:spPr>
          <a:xfrm>
            <a:off x="3375874" y="5415923"/>
            <a:ext cx="2506012" cy="493935"/>
          </a:xfrm>
          <a:prstGeom prst="rect">
            <a:avLst/>
          </a:prstGeom>
          <a:effectLst>
            <a:outerShdw blurRad="50800" dist="38100" dir="18900000" algn="b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Periodo máximo de participación, por persona profesionista experta </a:t>
            </a:r>
          </a:p>
        </p:txBody>
      </p:sp>
      <p:sp>
        <p:nvSpPr>
          <p:cNvPr id="42" name="Título 1">
            <a:extLst>
              <a:ext uri="{FF2B5EF4-FFF2-40B4-BE49-F238E27FC236}">
                <a16:creationId xmlns:a16="http://schemas.microsoft.com/office/drawing/2014/main" id="{4B36CF1C-3B60-6065-21A0-D3C27AEC718E}"/>
              </a:ext>
            </a:extLst>
          </p:cNvPr>
          <p:cNvSpPr txBox="1">
            <a:spLocks/>
          </p:cNvSpPr>
          <p:nvPr/>
        </p:nvSpPr>
        <p:spPr>
          <a:xfrm>
            <a:off x="839277" y="5875668"/>
            <a:ext cx="2103548" cy="493935"/>
          </a:xfrm>
          <a:prstGeom prst="rect">
            <a:avLst/>
          </a:prstGeom>
        </p:spPr>
        <p:style>
          <a:lnRef idx="2">
            <a:schemeClr val="accent2"/>
          </a:lnRef>
          <a:fillRef idx="1">
            <a:schemeClr val="lt1"/>
          </a:fillRef>
          <a:effectRef idx="0">
            <a:schemeClr val="accent2"/>
          </a:effectRef>
          <a:fontRef idx="minor">
            <a:schemeClr val="dk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solidFill>
                  <a:schemeClr val="accent2">
                    <a:lumMod val="50000"/>
                  </a:schemeClr>
                </a:solidFill>
                <a:latin typeface="Gotham" pitchFamily="50" charset="0"/>
                <a:cs typeface="Gotham" pitchFamily="50" charset="0"/>
              </a:rPr>
              <a:t>12 meses</a:t>
            </a:r>
          </a:p>
        </p:txBody>
      </p:sp>
      <p:sp>
        <p:nvSpPr>
          <p:cNvPr id="43" name="Título 1">
            <a:extLst>
              <a:ext uri="{FF2B5EF4-FFF2-40B4-BE49-F238E27FC236}">
                <a16:creationId xmlns:a16="http://schemas.microsoft.com/office/drawing/2014/main" id="{6B9193F4-9A4A-AA95-9A5B-9F54C7BA87A3}"/>
              </a:ext>
            </a:extLst>
          </p:cNvPr>
          <p:cNvSpPr txBox="1">
            <a:spLocks/>
          </p:cNvSpPr>
          <p:nvPr/>
        </p:nvSpPr>
        <p:spPr>
          <a:xfrm>
            <a:off x="9595827" y="5773033"/>
            <a:ext cx="2103548" cy="493935"/>
          </a:xfrm>
          <a:prstGeom prst="rect">
            <a:avLst/>
          </a:prstGeom>
        </p:spPr>
        <p:style>
          <a:lnRef idx="2">
            <a:schemeClr val="accent2"/>
          </a:lnRef>
          <a:fillRef idx="1">
            <a:schemeClr val="lt1"/>
          </a:fillRef>
          <a:effectRef idx="0">
            <a:schemeClr val="accent2"/>
          </a:effectRef>
          <a:fontRef idx="minor">
            <a:schemeClr val="dk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solidFill>
                  <a:schemeClr val="accent2">
                    <a:lumMod val="50000"/>
                  </a:schemeClr>
                </a:solidFill>
                <a:latin typeface="Gotham" pitchFamily="50" charset="0"/>
                <a:cs typeface="Gotham" pitchFamily="50" charset="0"/>
              </a:rPr>
              <a:t>12 meses</a:t>
            </a:r>
          </a:p>
        </p:txBody>
      </p:sp>
      <p:sp>
        <p:nvSpPr>
          <p:cNvPr id="44" name="Título 1">
            <a:extLst>
              <a:ext uri="{FF2B5EF4-FFF2-40B4-BE49-F238E27FC236}">
                <a16:creationId xmlns:a16="http://schemas.microsoft.com/office/drawing/2014/main" id="{F1890A8D-12FA-DB4D-D189-62464BBA03DF}"/>
              </a:ext>
            </a:extLst>
          </p:cNvPr>
          <p:cNvSpPr txBox="1">
            <a:spLocks/>
          </p:cNvSpPr>
          <p:nvPr/>
        </p:nvSpPr>
        <p:spPr>
          <a:xfrm>
            <a:off x="6511346" y="5833217"/>
            <a:ext cx="2103548" cy="493935"/>
          </a:xfrm>
          <a:prstGeom prst="rect">
            <a:avLst/>
          </a:prstGeom>
        </p:spPr>
        <p:style>
          <a:lnRef idx="2">
            <a:schemeClr val="accent2"/>
          </a:lnRef>
          <a:fillRef idx="1">
            <a:schemeClr val="lt1"/>
          </a:fillRef>
          <a:effectRef idx="0">
            <a:schemeClr val="accent2"/>
          </a:effectRef>
          <a:fontRef idx="minor">
            <a:schemeClr val="dk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solidFill>
                  <a:schemeClr val="accent2">
                    <a:lumMod val="50000"/>
                  </a:schemeClr>
                </a:solidFill>
                <a:latin typeface="Gotham" pitchFamily="50" charset="0"/>
                <a:cs typeface="Gotham" pitchFamily="50" charset="0"/>
              </a:rPr>
              <a:t>12 meses</a:t>
            </a:r>
          </a:p>
        </p:txBody>
      </p:sp>
      <p:sp>
        <p:nvSpPr>
          <p:cNvPr id="45" name="Título 1">
            <a:extLst>
              <a:ext uri="{FF2B5EF4-FFF2-40B4-BE49-F238E27FC236}">
                <a16:creationId xmlns:a16="http://schemas.microsoft.com/office/drawing/2014/main" id="{0B39CD12-1CCB-3568-0C47-8CFCCEE36850}"/>
              </a:ext>
            </a:extLst>
          </p:cNvPr>
          <p:cNvSpPr txBox="1">
            <a:spLocks/>
          </p:cNvSpPr>
          <p:nvPr/>
        </p:nvSpPr>
        <p:spPr>
          <a:xfrm>
            <a:off x="3529886" y="5834203"/>
            <a:ext cx="2103548" cy="493935"/>
          </a:xfrm>
          <a:prstGeom prst="rect">
            <a:avLst/>
          </a:prstGeom>
        </p:spPr>
        <p:style>
          <a:lnRef idx="2">
            <a:schemeClr val="accent2"/>
          </a:lnRef>
          <a:fillRef idx="1">
            <a:schemeClr val="lt1"/>
          </a:fillRef>
          <a:effectRef idx="0">
            <a:schemeClr val="accent2"/>
          </a:effectRef>
          <a:fontRef idx="minor">
            <a:schemeClr val="dk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solidFill>
                  <a:schemeClr val="accent2">
                    <a:lumMod val="50000"/>
                  </a:schemeClr>
                </a:solidFill>
                <a:latin typeface="Gotham" pitchFamily="50" charset="0"/>
                <a:cs typeface="Gotham" pitchFamily="50" charset="0"/>
              </a:rPr>
              <a:t>12 meses</a:t>
            </a:r>
          </a:p>
        </p:txBody>
      </p:sp>
    </p:spTree>
    <p:extLst>
      <p:ext uri="{BB962C8B-B14F-4D97-AF65-F5344CB8AC3E}">
        <p14:creationId xmlns:p14="http://schemas.microsoft.com/office/powerpoint/2010/main" val="691389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6F633-56C6-8B4A-9151-9F2B32DE8F3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F91CB6A-757D-B0C3-10ED-C193A8D71FC9}"/>
              </a:ext>
            </a:extLst>
          </p:cNvPr>
          <p:cNvSpPr txBox="1">
            <a:spLocks/>
          </p:cNvSpPr>
          <p:nvPr/>
        </p:nvSpPr>
        <p:spPr>
          <a:xfrm>
            <a:off x="438955" y="330368"/>
            <a:ext cx="6644426" cy="493935"/>
          </a:xfrm>
          <a:prstGeom prst="rect">
            <a:avLst/>
          </a:prstGeom>
        </p:spPr>
        <p:style>
          <a:lnRef idx="1">
            <a:schemeClr val="accent2"/>
          </a:lnRef>
          <a:fillRef idx="3">
            <a:schemeClr val="accent2"/>
          </a:fillRef>
          <a:effectRef idx="2">
            <a:schemeClr val="accent2"/>
          </a:effectRef>
          <a:fontRef idx="minor">
            <a:schemeClr val="lt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400" dirty="0">
                <a:latin typeface="Gotham" pitchFamily="50" charset="0"/>
                <a:cs typeface="Gotham" pitchFamily="50" charset="0"/>
              </a:rPr>
              <a:t>Atracción Temporal de Personas Expertas</a:t>
            </a:r>
          </a:p>
        </p:txBody>
      </p:sp>
      <p:sp>
        <p:nvSpPr>
          <p:cNvPr id="3" name="Título 1">
            <a:extLst>
              <a:ext uri="{FF2B5EF4-FFF2-40B4-BE49-F238E27FC236}">
                <a16:creationId xmlns:a16="http://schemas.microsoft.com/office/drawing/2014/main" id="{5B5D0FE3-15FC-13B0-3711-DC341C99205F}"/>
              </a:ext>
            </a:extLst>
          </p:cNvPr>
          <p:cNvSpPr txBox="1">
            <a:spLocks/>
          </p:cNvSpPr>
          <p:nvPr/>
        </p:nvSpPr>
        <p:spPr>
          <a:xfrm>
            <a:off x="7394619" y="330368"/>
            <a:ext cx="4577367" cy="493935"/>
          </a:xfrm>
          <a:prstGeom prst="rect">
            <a:avLst/>
          </a:prstGeom>
          <a:ln>
            <a:noFill/>
          </a:ln>
        </p:spPr>
        <p:style>
          <a:lnRef idx="2">
            <a:schemeClr val="accent2"/>
          </a:lnRef>
          <a:fillRef idx="1">
            <a:schemeClr val="lt1"/>
          </a:fillRef>
          <a:effectRef idx="0">
            <a:schemeClr val="accent2"/>
          </a:effectRef>
          <a:fontRef idx="minor">
            <a:schemeClr val="dk1"/>
          </a:fontRef>
        </p:style>
        <p:txBody>
          <a:bodyP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1200" b="1" dirty="0">
                <a:latin typeface="Gotham" pitchFamily="50" charset="0"/>
                <a:cs typeface="Gotham" pitchFamily="50" charset="0"/>
              </a:rPr>
              <a:t>Nota: </a:t>
            </a:r>
            <a:r>
              <a:rPr lang="es-MX" sz="1200" dirty="0">
                <a:latin typeface="Gotham" pitchFamily="50" charset="0"/>
                <a:cs typeface="Gotham" pitchFamily="50" charset="0"/>
              </a:rPr>
              <a:t>Podrán participar “n” profesionistas, por la cantidad de profesionistas se tendrá que desplegar los mismos requisitos</a:t>
            </a:r>
          </a:p>
        </p:txBody>
      </p:sp>
      <p:graphicFrame>
        <p:nvGraphicFramePr>
          <p:cNvPr id="4" name="Tabla 3">
            <a:extLst>
              <a:ext uri="{FF2B5EF4-FFF2-40B4-BE49-F238E27FC236}">
                <a16:creationId xmlns:a16="http://schemas.microsoft.com/office/drawing/2014/main" id="{57C9F9F1-F75A-EA56-B3EB-77E1F37BDBCD}"/>
              </a:ext>
            </a:extLst>
          </p:cNvPr>
          <p:cNvGraphicFramePr>
            <a:graphicFrameLocks noGrp="1"/>
          </p:cNvGraphicFramePr>
          <p:nvPr>
            <p:extLst>
              <p:ext uri="{D42A27DB-BD31-4B8C-83A1-F6EECF244321}">
                <p14:modId xmlns:p14="http://schemas.microsoft.com/office/powerpoint/2010/main" val="4144352112"/>
              </p:ext>
            </p:extLst>
          </p:nvPr>
        </p:nvGraphicFramePr>
        <p:xfrm>
          <a:off x="438955" y="1769860"/>
          <a:ext cx="10515599" cy="3507611"/>
        </p:xfrm>
        <a:graphic>
          <a:graphicData uri="http://schemas.openxmlformats.org/drawingml/2006/table">
            <a:tbl>
              <a:tblPr firstRow="1" firstCol="1" bandRow="1"/>
              <a:tblGrid>
                <a:gridCol w="569945">
                  <a:extLst>
                    <a:ext uri="{9D8B030D-6E8A-4147-A177-3AD203B41FA5}">
                      <a16:colId xmlns:a16="http://schemas.microsoft.com/office/drawing/2014/main" val="1015646928"/>
                    </a:ext>
                  </a:extLst>
                </a:gridCol>
                <a:gridCol w="7506036">
                  <a:extLst>
                    <a:ext uri="{9D8B030D-6E8A-4147-A177-3AD203B41FA5}">
                      <a16:colId xmlns:a16="http://schemas.microsoft.com/office/drawing/2014/main" val="1555179502"/>
                    </a:ext>
                  </a:extLst>
                </a:gridCol>
                <a:gridCol w="1219809">
                  <a:extLst>
                    <a:ext uri="{9D8B030D-6E8A-4147-A177-3AD203B41FA5}">
                      <a16:colId xmlns:a16="http://schemas.microsoft.com/office/drawing/2014/main" val="3965225581"/>
                    </a:ext>
                  </a:extLst>
                </a:gridCol>
                <a:gridCol w="1219809">
                  <a:extLst>
                    <a:ext uri="{9D8B030D-6E8A-4147-A177-3AD203B41FA5}">
                      <a16:colId xmlns:a16="http://schemas.microsoft.com/office/drawing/2014/main" val="3957700914"/>
                    </a:ext>
                  </a:extLst>
                </a:gridCol>
              </a:tblGrid>
              <a:tr h="215771">
                <a:tc gridSpan="4">
                  <a:txBody>
                    <a:bodyPr/>
                    <a:lstStyle/>
                    <a:p>
                      <a:pPr algn="ctr">
                        <a:buNone/>
                      </a:pPr>
                      <a:r>
                        <a:rPr lang="es-ES_tradnl" sz="1200" b="1" dirty="0">
                          <a:solidFill>
                            <a:srgbClr val="FFFFFF"/>
                          </a:solidFill>
                          <a:effectLst/>
                          <a:latin typeface="Gotham" pitchFamily="50" charset="0"/>
                          <a:ea typeface="Calibri" panose="020F0502020204030204" pitchFamily="34" charset="0"/>
                          <a:cs typeface="Times New Roman" panose="02020603050405020304" pitchFamily="18" charset="0"/>
                        </a:rPr>
                        <a:t>8.1.1.2.3 De la modalidad Atracción Temporal de Personas Expertas</a:t>
                      </a:r>
                      <a:endParaRPr lang="es-MX"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tc hMerge="1">
                  <a:txBody>
                    <a:bodyPr/>
                    <a:lstStyle/>
                    <a:p>
                      <a:endParaRPr lang="es-MX"/>
                    </a:p>
                  </a:txBody>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1775458836"/>
                  </a:ext>
                </a:extLst>
              </a:tr>
              <a:tr h="137078">
                <a:tc>
                  <a:txBody>
                    <a:bodyPr/>
                    <a:lstStyle/>
                    <a:p>
                      <a:pPr algn="ctr">
                        <a:buNone/>
                      </a:pPr>
                      <a:r>
                        <a:rPr lang="es-MX" sz="1200" b="1">
                          <a:solidFill>
                            <a:srgbClr val="C00000"/>
                          </a:solidFill>
                          <a:effectLst/>
                          <a:latin typeface="Gotham" pitchFamily="50" charset="0"/>
                          <a:ea typeface="MS Mincho" panose="02020609040205080304" pitchFamily="49" charset="-128"/>
                          <a:cs typeface="Gotham Light" pitchFamily="50" charset="0"/>
                        </a:rPr>
                        <a:t>No.</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tabLst>
                          <a:tab pos="180340" algn="l"/>
                        </a:tabLst>
                      </a:pPr>
                      <a:r>
                        <a:rPr lang="es-MX" sz="1200" b="1">
                          <a:solidFill>
                            <a:srgbClr val="C00000"/>
                          </a:solidFill>
                          <a:effectLst/>
                          <a:latin typeface="Gotham" pitchFamily="50" charset="0"/>
                          <a:ea typeface="MS Mincho" panose="02020609040205080304" pitchFamily="49" charset="-128"/>
                          <a:cs typeface="Gotham Light" pitchFamily="50" charset="0"/>
                        </a:rPr>
                        <a:t>Documento</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MX" sz="1100" dirty="0">
                          <a:effectLst/>
                          <a:latin typeface="Calibri" panose="020F0502020204030204" pitchFamily="34" charset="0"/>
                          <a:ea typeface="Calibri" panose="020F0502020204030204" pitchFamily="34" charset="0"/>
                          <a:cs typeface="Times New Roman" panose="02020603050405020304" pitchFamily="18" charset="0"/>
                        </a:rPr>
                        <a:t>Subir archivo (PDF)</a:t>
                      </a: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MX" sz="1100" dirty="0">
                          <a:effectLst/>
                          <a:latin typeface="Calibri" panose="020F0502020204030204" pitchFamily="34" charset="0"/>
                          <a:ea typeface="Calibri" panose="020F0502020204030204" pitchFamily="34" charset="0"/>
                          <a:cs typeface="Times New Roman" panose="02020603050405020304" pitchFamily="18" charset="0"/>
                        </a:rPr>
                        <a:t>Revisado Comecyt</a:t>
                      </a: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88546298"/>
                  </a:ext>
                </a:extLst>
              </a:tr>
              <a:tr h="411233">
                <a:tc>
                  <a:txBody>
                    <a:bodyPr/>
                    <a:lstStyle/>
                    <a:p>
                      <a:pPr algn="ctr">
                        <a:buNone/>
                      </a:pPr>
                      <a:r>
                        <a:rPr lang="es-MX" sz="1200">
                          <a:effectLst/>
                          <a:latin typeface="Gotham" pitchFamily="50" charset="0"/>
                          <a:ea typeface="Calibri" panose="020F0502020204030204" pitchFamily="34" charset="0"/>
                          <a:cs typeface="Times New Roman" panose="02020603050405020304" pitchFamily="18" charset="0"/>
                        </a:rPr>
                        <a:t>a)</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tabLst>
                          <a:tab pos="180340" algn="l"/>
                        </a:tabLst>
                      </a:pPr>
                      <a:r>
                        <a:rPr lang="es-MX" sz="1200" dirty="0">
                          <a:effectLst/>
                          <a:latin typeface="Gotham" pitchFamily="50" charset="0"/>
                          <a:ea typeface="Calibri" panose="020F0502020204030204" pitchFamily="34" charset="0"/>
                          <a:cs typeface="Times New Roman" panose="02020603050405020304" pitchFamily="18" charset="0"/>
                        </a:rPr>
                        <a:t>Identificación oficial vigente, que contenga fotografía, Clave Única de Registro de Población (CURP). En caso de no contar con el documento antes mencionado, podrá presentar una constancia domiciliaria emitida por la autoridad municipal competente con fecha de expedición no mayor a tres meses a partir del primer día de publicación de la convocatoria.</a:t>
                      </a:r>
                      <a:endParaRPr lang="es-MX"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1200">
                          <a:effectLst/>
                          <a:latin typeface="Gotham" pitchFamily="50" charset="0"/>
                          <a:ea typeface="Calibri" panose="020F0502020204030204" pitchFamily="34" charset="0"/>
                          <a:cs typeface="Times New Roman" panose="02020603050405020304" pitchFamily="18" charset="0"/>
                        </a:rPr>
                        <a:t> </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1200">
                          <a:solidFill>
                            <a:srgbClr val="FF0000"/>
                          </a:solidFill>
                          <a:effectLst/>
                          <a:latin typeface="Gotham" pitchFamily="50" charset="0"/>
                          <a:ea typeface="Calibri" panose="020F0502020204030204" pitchFamily="34" charset="0"/>
                          <a:cs typeface="Times New Roman" panose="02020603050405020304" pitchFamily="18" charset="0"/>
                        </a:rPr>
                        <a:t> </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66046212"/>
                  </a:ext>
                </a:extLst>
              </a:tr>
              <a:tr h="274156">
                <a:tc>
                  <a:txBody>
                    <a:bodyPr/>
                    <a:lstStyle/>
                    <a:p>
                      <a:pPr algn="ctr">
                        <a:buNone/>
                      </a:pPr>
                      <a:r>
                        <a:rPr lang="es-MX" sz="1200">
                          <a:effectLst/>
                          <a:latin typeface="Gotham" pitchFamily="50" charset="0"/>
                          <a:ea typeface="Calibri" panose="020F0502020204030204" pitchFamily="34" charset="0"/>
                          <a:cs typeface="Times New Roman" panose="02020603050405020304" pitchFamily="18" charset="0"/>
                        </a:rPr>
                        <a:t>b)</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tabLst>
                          <a:tab pos="180340" algn="l"/>
                        </a:tabLst>
                      </a:pPr>
                      <a:r>
                        <a:rPr lang="es-MX" sz="1200">
                          <a:effectLst/>
                          <a:latin typeface="Gotham" pitchFamily="50" charset="0"/>
                          <a:ea typeface="Calibri" panose="020F0502020204030204" pitchFamily="34" charset="0"/>
                          <a:cs typeface="Times New Roman" panose="02020603050405020304" pitchFamily="18" charset="0"/>
                        </a:rPr>
                        <a:t>Comprobante de domicilio (recibo de luz, agua o telecomunicaciones) con una antigüedad no mayor a tres meses a partir del primer día de publicación de la convocatoria.</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1200">
                          <a:effectLst/>
                          <a:latin typeface="Gotham" pitchFamily="50" charset="0"/>
                          <a:ea typeface="Calibri" panose="020F0502020204030204" pitchFamily="34" charset="0"/>
                          <a:cs typeface="Times New Roman" panose="02020603050405020304" pitchFamily="18" charset="0"/>
                        </a:rPr>
                        <a:t> </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1200">
                          <a:solidFill>
                            <a:srgbClr val="FF0000"/>
                          </a:solidFill>
                          <a:effectLst/>
                          <a:latin typeface="Gotham" pitchFamily="50" charset="0"/>
                          <a:ea typeface="Calibri" panose="020F0502020204030204" pitchFamily="34" charset="0"/>
                          <a:cs typeface="Times New Roman" panose="02020603050405020304" pitchFamily="18" charset="0"/>
                        </a:rPr>
                        <a:t> </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7998636"/>
                  </a:ext>
                </a:extLst>
              </a:tr>
              <a:tr h="274156">
                <a:tc>
                  <a:txBody>
                    <a:bodyPr/>
                    <a:lstStyle/>
                    <a:p>
                      <a:pPr algn="ctr">
                        <a:buNone/>
                      </a:pPr>
                      <a:r>
                        <a:rPr lang="es-MX" sz="1200">
                          <a:effectLst/>
                          <a:latin typeface="Gotham" pitchFamily="50" charset="0"/>
                          <a:ea typeface="Calibri" panose="020F0502020204030204" pitchFamily="34" charset="0"/>
                          <a:cs typeface="Times New Roman" panose="02020603050405020304" pitchFamily="18" charset="0"/>
                        </a:rPr>
                        <a:t>c)</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tabLst>
                          <a:tab pos="180340" algn="l"/>
                        </a:tabLst>
                      </a:pPr>
                      <a:r>
                        <a:rPr lang="es-MX" sz="1200">
                          <a:effectLst/>
                          <a:latin typeface="Gotham" pitchFamily="50" charset="0"/>
                          <a:ea typeface="Calibri" panose="020F0502020204030204" pitchFamily="34" charset="0"/>
                          <a:cs typeface="Times New Roman" panose="02020603050405020304" pitchFamily="18" charset="0"/>
                        </a:rPr>
                        <a:t>Curriculum Vitae que avale sus conocimientos y experiencia en relación al desarrollo de la propuesta tecnológica y/o de innovación.</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1200">
                          <a:effectLst/>
                          <a:latin typeface="Gotham" pitchFamily="50" charset="0"/>
                          <a:ea typeface="Calibri" panose="020F0502020204030204" pitchFamily="34" charset="0"/>
                          <a:cs typeface="Times New Roman" panose="02020603050405020304" pitchFamily="18" charset="0"/>
                        </a:rPr>
                        <a:t> </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1200">
                          <a:solidFill>
                            <a:srgbClr val="FF0000"/>
                          </a:solidFill>
                          <a:effectLst/>
                          <a:latin typeface="Gotham" pitchFamily="50" charset="0"/>
                          <a:ea typeface="Calibri" panose="020F0502020204030204" pitchFamily="34" charset="0"/>
                          <a:cs typeface="Times New Roman" panose="02020603050405020304" pitchFamily="18" charset="0"/>
                        </a:rPr>
                        <a:t> </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26535989"/>
                  </a:ext>
                </a:extLst>
              </a:tr>
              <a:tr h="137078">
                <a:tc>
                  <a:txBody>
                    <a:bodyPr/>
                    <a:lstStyle/>
                    <a:p>
                      <a:pPr algn="ctr">
                        <a:buNone/>
                      </a:pPr>
                      <a:r>
                        <a:rPr lang="es-MX" sz="1200">
                          <a:effectLst/>
                          <a:latin typeface="Gotham" pitchFamily="50" charset="0"/>
                          <a:ea typeface="Calibri" panose="020F0502020204030204" pitchFamily="34" charset="0"/>
                          <a:cs typeface="Times New Roman" panose="02020603050405020304" pitchFamily="18" charset="0"/>
                        </a:rPr>
                        <a:t>d)</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tabLst>
                          <a:tab pos="180340" algn="l"/>
                        </a:tabLst>
                      </a:pPr>
                      <a:r>
                        <a:rPr lang="es-MX" sz="1200">
                          <a:effectLst/>
                          <a:latin typeface="Gotham" pitchFamily="50" charset="0"/>
                          <a:ea typeface="Calibri" panose="020F0502020204030204" pitchFamily="34" charset="0"/>
                          <a:cs typeface="Times New Roman" panose="02020603050405020304" pitchFamily="18" charset="0"/>
                        </a:rPr>
                        <a:t>Constancia de Situación Fiscal actualizada.</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1200">
                          <a:effectLst/>
                          <a:latin typeface="Gotham" pitchFamily="50" charset="0"/>
                          <a:ea typeface="Calibri" panose="020F0502020204030204" pitchFamily="34" charset="0"/>
                          <a:cs typeface="Times New Roman" panose="02020603050405020304" pitchFamily="18" charset="0"/>
                        </a:rPr>
                        <a:t> </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1200">
                          <a:solidFill>
                            <a:srgbClr val="FF0000"/>
                          </a:solidFill>
                          <a:effectLst/>
                          <a:latin typeface="Gotham" pitchFamily="50" charset="0"/>
                          <a:ea typeface="Calibri" panose="020F0502020204030204" pitchFamily="34" charset="0"/>
                          <a:cs typeface="Times New Roman" panose="02020603050405020304" pitchFamily="18" charset="0"/>
                        </a:rPr>
                        <a:t> </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3096708"/>
                  </a:ext>
                </a:extLst>
              </a:tr>
              <a:tr h="137078">
                <a:tc>
                  <a:txBody>
                    <a:bodyPr/>
                    <a:lstStyle/>
                    <a:p>
                      <a:pPr algn="ctr">
                        <a:buNone/>
                      </a:pPr>
                      <a:r>
                        <a:rPr lang="es-MX" sz="1200">
                          <a:effectLst/>
                          <a:latin typeface="Gotham" pitchFamily="50" charset="0"/>
                          <a:ea typeface="Calibri" panose="020F0502020204030204" pitchFamily="34" charset="0"/>
                          <a:cs typeface="Times New Roman" panose="02020603050405020304" pitchFamily="18" charset="0"/>
                        </a:rPr>
                        <a:t>e)</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tabLst>
                          <a:tab pos="180340" algn="l"/>
                        </a:tabLst>
                      </a:pPr>
                      <a:r>
                        <a:rPr lang="es-MX" sz="1200">
                          <a:effectLst/>
                          <a:latin typeface="Gotham" pitchFamily="50" charset="0"/>
                          <a:ea typeface="Calibri" panose="020F0502020204030204" pitchFamily="34" charset="0"/>
                          <a:cs typeface="Times New Roman" panose="02020603050405020304" pitchFamily="18" charset="0"/>
                        </a:rPr>
                        <a:t>Propuesta de contrato de prestación de servicios.</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1200">
                          <a:effectLst/>
                          <a:latin typeface="Gotham" pitchFamily="50" charset="0"/>
                          <a:ea typeface="Calibri" panose="020F0502020204030204" pitchFamily="34" charset="0"/>
                          <a:cs typeface="Times New Roman" panose="02020603050405020304" pitchFamily="18" charset="0"/>
                        </a:rPr>
                        <a:t> </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1200">
                          <a:solidFill>
                            <a:srgbClr val="FF0000"/>
                          </a:solidFill>
                          <a:effectLst/>
                          <a:latin typeface="Gotham" pitchFamily="50" charset="0"/>
                          <a:ea typeface="Calibri" panose="020F0502020204030204" pitchFamily="34" charset="0"/>
                          <a:cs typeface="Times New Roman" panose="02020603050405020304" pitchFamily="18" charset="0"/>
                        </a:rPr>
                        <a:t> </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45475349"/>
                  </a:ext>
                </a:extLst>
              </a:tr>
              <a:tr h="137078">
                <a:tc>
                  <a:txBody>
                    <a:bodyPr/>
                    <a:lstStyle/>
                    <a:p>
                      <a:pPr algn="ctr">
                        <a:buNone/>
                      </a:pPr>
                      <a:r>
                        <a:rPr lang="es-MX" sz="1200">
                          <a:effectLst/>
                          <a:latin typeface="Gotham" pitchFamily="50" charset="0"/>
                          <a:ea typeface="Calibri" panose="020F0502020204030204" pitchFamily="34" charset="0"/>
                          <a:cs typeface="Times New Roman" panose="02020603050405020304" pitchFamily="18" charset="0"/>
                        </a:rPr>
                        <a:t>f)</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tabLst>
                          <a:tab pos="180340" algn="l"/>
                        </a:tabLst>
                      </a:pPr>
                      <a:r>
                        <a:rPr lang="es-MX" sz="1200">
                          <a:effectLst/>
                          <a:latin typeface="Gotham" pitchFamily="50" charset="0"/>
                          <a:ea typeface="Calibri" panose="020F0502020204030204" pitchFamily="34" charset="0"/>
                          <a:cs typeface="Times New Roman" panose="02020603050405020304" pitchFamily="18" charset="0"/>
                        </a:rPr>
                        <a:t>Cotización del servicio de la persona profesionista experta, con una vigencia no mayor a 3 meses.  </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1200">
                          <a:effectLst/>
                          <a:latin typeface="Gotham" pitchFamily="50" charset="0"/>
                          <a:ea typeface="Calibri" panose="020F0502020204030204" pitchFamily="34" charset="0"/>
                          <a:cs typeface="Times New Roman" panose="02020603050405020304" pitchFamily="18" charset="0"/>
                        </a:rPr>
                        <a:t> </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1200">
                          <a:solidFill>
                            <a:srgbClr val="FF0000"/>
                          </a:solidFill>
                          <a:effectLst/>
                          <a:latin typeface="Gotham" pitchFamily="50" charset="0"/>
                          <a:ea typeface="Calibri" panose="020F0502020204030204" pitchFamily="34" charset="0"/>
                          <a:cs typeface="Times New Roman" panose="02020603050405020304" pitchFamily="18" charset="0"/>
                        </a:rPr>
                        <a:t> </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51033023"/>
                  </a:ext>
                </a:extLst>
              </a:tr>
              <a:tr h="411233">
                <a:tc>
                  <a:txBody>
                    <a:bodyPr/>
                    <a:lstStyle/>
                    <a:p>
                      <a:pPr algn="ctr">
                        <a:buNone/>
                      </a:pPr>
                      <a:r>
                        <a:rPr lang="es-MX" sz="1200">
                          <a:effectLst/>
                          <a:latin typeface="Gotham" pitchFamily="50" charset="0"/>
                          <a:ea typeface="Calibri" panose="020F0502020204030204" pitchFamily="34" charset="0"/>
                          <a:cs typeface="Times New Roman" panose="02020603050405020304" pitchFamily="18" charset="0"/>
                        </a:rPr>
                        <a:t>g)</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tabLst>
                          <a:tab pos="180340" algn="l"/>
                        </a:tabLst>
                      </a:pPr>
                      <a:r>
                        <a:rPr lang="es-MX" sz="1200">
                          <a:effectLst/>
                          <a:latin typeface="Gotham" pitchFamily="50" charset="0"/>
                          <a:ea typeface="Calibri" panose="020F0502020204030204" pitchFamily="34" charset="0"/>
                          <a:cs typeface="Times New Roman" panose="02020603050405020304" pitchFamily="18" charset="0"/>
                        </a:rPr>
                        <a:t>Carta dirigida a la persona titular de la DDTyV, bajo protesta de decir verdad, en la que se especifique que no existe relación consanguínea hasta segundo grado con las personas propietarias de la Persona Solicitante (micro, pequeña, mediana o grande empresa).</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1200">
                          <a:effectLst/>
                          <a:latin typeface="Gotham" pitchFamily="50" charset="0"/>
                          <a:ea typeface="Calibri" panose="020F0502020204030204" pitchFamily="34" charset="0"/>
                          <a:cs typeface="Times New Roman" panose="02020603050405020304" pitchFamily="18" charset="0"/>
                        </a:rPr>
                        <a:t> </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1200">
                          <a:solidFill>
                            <a:srgbClr val="FF0000"/>
                          </a:solidFill>
                          <a:effectLst/>
                          <a:latin typeface="Gotham" pitchFamily="50" charset="0"/>
                          <a:ea typeface="Calibri" panose="020F0502020204030204" pitchFamily="34" charset="0"/>
                          <a:cs typeface="Times New Roman" panose="02020603050405020304" pitchFamily="18" charset="0"/>
                        </a:rPr>
                        <a:t> </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72326278"/>
                  </a:ext>
                </a:extLst>
              </a:tr>
              <a:tr h="137078">
                <a:tc>
                  <a:txBody>
                    <a:bodyPr/>
                    <a:lstStyle/>
                    <a:p>
                      <a:pPr algn="ctr">
                        <a:buNone/>
                      </a:pPr>
                      <a:r>
                        <a:rPr lang="es-MX" sz="1200">
                          <a:effectLst/>
                          <a:latin typeface="Gotham" pitchFamily="50" charset="0"/>
                          <a:ea typeface="Calibri" panose="020F0502020204030204" pitchFamily="34" charset="0"/>
                          <a:cs typeface="Times New Roman" panose="02020603050405020304" pitchFamily="18" charset="0"/>
                        </a:rPr>
                        <a:t> </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a:buNone/>
                      </a:pPr>
                      <a:r>
                        <a:rPr lang="es-MX" sz="1200">
                          <a:solidFill>
                            <a:srgbClr val="C00000"/>
                          </a:solidFill>
                          <a:effectLst/>
                          <a:latin typeface="Gotham" pitchFamily="50" charset="0"/>
                          <a:ea typeface="Calibri" panose="020F0502020204030204" pitchFamily="34" charset="0"/>
                          <a:cs typeface="Times New Roman" panose="02020603050405020304" pitchFamily="18" charset="0"/>
                        </a:rPr>
                        <a:t>Para las personas profesionistas expertas extranjeras:</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3515162643"/>
                  </a:ext>
                </a:extLst>
              </a:tr>
              <a:tr h="137078">
                <a:tc>
                  <a:txBody>
                    <a:bodyPr/>
                    <a:lstStyle/>
                    <a:p>
                      <a:pPr algn="ctr">
                        <a:buNone/>
                      </a:pPr>
                      <a:r>
                        <a:rPr lang="es-MX" sz="1200">
                          <a:effectLst/>
                          <a:latin typeface="Gotham" pitchFamily="50" charset="0"/>
                          <a:ea typeface="Calibri" panose="020F0502020204030204" pitchFamily="34" charset="0"/>
                          <a:cs typeface="Times New Roman" panose="02020603050405020304" pitchFamily="18" charset="0"/>
                        </a:rPr>
                        <a:t>h)</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tabLst>
                          <a:tab pos="180340" algn="l"/>
                        </a:tabLst>
                      </a:pPr>
                      <a:r>
                        <a:rPr lang="es-MX" sz="1200">
                          <a:effectLst/>
                          <a:latin typeface="Gotham" pitchFamily="50" charset="0"/>
                          <a:ea typeface="Calibri" panose="020F0502020204030204" pitchFamily="34" charset="0"/>
                          <a:cs typeface="Times New Roman" panose="02020603050405020304" pitchFamily="18" charset="0"/>
                        </a:rPr>
                        <a:t>Pasaporte vigente.</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1200">
                          <a:effectLst/>
                          <a:latin typeface="Gotham" pitchFamily="50" charset="0"/>
                          <a:ea typeface="Calibri" panose="020F0502020204030204" pitchFamily="34" charset="0"/>
                          <a:cs typeface="Times New Roman" panose="02020603050405020304" pitchFamily="18" charset="0"/>
                        </a:rPr>
                        <a:t> </a:t>
                      </a:r>
                      <a:endParaRPr lang="es-MX" sz="2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1200" dirty="0">
                          <a:solidFill>
                            <a:srgbClr val="FF0000"/>
                          </a:solidFill>
                          <a:effectLst/>
                          <a:latin typeface="Gotham" pitchFamily="50" charset="0"/>
                          <a:ea typeface="Calibri" panose="020F0502020204030204" pitchFamily="34" charset="0"/>
                          <a:cs typeface="Times New Roman" panose="02020603050405020304" pitchFamily="18" charset="0"/>
                        </a:rPr>
                        <a:t> </a:t>
                      </a:r>
                      <a:endParaRPr lang="es-MX"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20280902"/>
                  </a:ext>
                </a:extLst>
              </a:tr>
            </a:tbl>
          </a:graphicData>
        </a:graphic>
      </p:graphicFrame>
      <p:sp>
        <p:nvSpPr>
          <p:cNvPr id="6" name="Título 1">
            <a:hlinkClick r:id="rId2" action="ppaction://hlinksldjump"/>
            <a:extLst>
              <a:ext uri="{FF2B5EF4-FFF2-40B4-BE49-F238E27FC236}">
                <a16:creationId xmlns:a16="http://schemas.microsoft.com/office/drawing/2014/main" id="{4691A5A0-BA4C-6D6E-8276-14F084EE8BF7}"/>
              </a:ext>
            </a:extLst>
          </p:cNvPr>
          <p:cNvSpPr txBox="1">
            <a:spLocks/>
          </p:cNvSpPr>
          <p:nvPr/>
        </p:nvSpPr>
        <p:spPr>
          <a:xfrm>
            <a:off x="438955" y="972873"/>
            <a:ext cx="4037528" cy="493935"/>
          </a:xfrm>
          <a:prstGeom prst="rect">
            <a:avLst/>
          </a:prstGeom>
          <a:effectLst>
            <a:outerShdw blurRad="50800" dist="38100" dir="18900000" algn="b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Persona profesionista experta(s) nacional o extranjera</a:t>
            </a:r>
          </a:p>
        </p:txBody>
      </p:sp>
      <p:sp>
        <p:nvSpPr>
          <p:cNvPr id="8" name="Título 1">
            <a:extLst>
              <a:ext uri="{FF2B5EF4-FFF2-40B4-BE49-F238E27FC236}">
                <a16:creationId xmlns:a16="http://schemas.microsoft.com/office/drawing/2014/main" id="{55846775-E3C9-A017-B43B-30B3D95E5621}"/>
              </a:ext>
            </a:extLst>
          </p:cNvPr>
          <p:cNvSpPr txBox="1">
            <a:spLocks/>
          </p:cNvSpPr>
          <p:nvPr/>
        </p:nvSpPr>
        <p:spPr>
          <a:xfrm>
            <a:off x="438955" y="5919976"/>
            <a:ext cx="10156065" cy="606104"/>
          </a:xfrm>
          <a:prstGeom prst="rect">
            <a:avLst/>
          </a:prstGeom>
        </p:spPr>
        <p:style>
          <a:lnRef idx="2">
            <a:schemeClr val="accent2"/>
          </a:lnRef>
          <a:fillRef idx="1">
            <a:schemeClr val="lt1"/>
          </a:fillRef>
          <a:effectRef idx="0">
            <a:schemeClr val="accent2"/>
          </a:effectRef>
          <a:fontRef idx="minor">
            <a:schemeClr val="dk1"/>
          </a:fontRef>
        </p:style>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400" dirty="0">
                <a:latin typeface="Gotham" pitchFamily="50" charset="0"/>
                <a:cs typeface="Gotham" pitchFamily="50" charset="0"/>
              </a:rPr>
              <a:t>Las empresas (Personas solicitantes, deberán subir sus documentos al sistema en versión PDF, y podrán visualizar que documento subieron, y en su momento que documento fue revisado por Comecyt y comentarios al documento. </a:t>
            </a:r>
          </a:p>
        </p:txBody>
      </p:sp>
    </p:spTree>
    <p:extLst>
      <p:ext uri="{BB962C8B-B14F-4D97-AF65-F5344CB8AC3E}">
        <p14:creationId xmlns:p14="http://schemas.microsoft.com/office/powerpoint/2010/main" val="4245886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EE07D-82C5-BE7D-2E89-AAABA83BBB61}"/>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FA987AB0-731D-1D33-3BE1-7215395EFA89}"/>
              </a:ext>
            </a:extLst>
          </p:cNvPr>
          <p:cNvSpPr txBox="1">
            <a:spLocks/>
          </p:cNvSpPr>
          <p:nvPr/>
        </p:nvSpPr>
        <p:spPr>
          <a:xfrm>
            <a:off x="852144" y="2048315"/>
            <a:ext cx="4424272" cy="427151"/>
          </a:xfrm>
          <a:prstGeom prst="rect">
            <a:avLst/>
          </a:prstGeom>
        </p:spPr>
        <p:style>
          <a:lnRef idx="2">
            <a:schemeClr val="accent2"/>
          </a:lnRef>
          <a:fillRef idx="1">
            <a:schemeClr val="lt1"/>
          </a:fillRef>
          <a:effectRef idx="0">
            <a:schemeClr val="accent2"/>
          </a:effectRef>
          <a:fontRef idx="minor">
            <a:schemeClr val="dk1"/>
          </a:fontRef>
        </p:style>
        <p:txBody>
          <a:bodyPr>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Núm. de persona profesionista experta</a:t>
            </a:r>
          </a:p>
        </p:txBody>
      </p:sp>
      <p:sp>
        <p:nvSpPr>
          <p:cNvPr id="21" name="Título 1">
            <a:extLst>
              <a:ext uri="{FF2B5EF4-FFF2-40B4-BE49-F238E27FC236}">
                <a16:creationId xmlns:a16="http://schemas.microsoft.com/office/drawing/2014/main" id="{4EB0166A-4EF4-7616-6CE1-958B39299768}"/>
              </a:ext>
            </a:extLst>
          </p:cNvPr>
          <p:cNvSpPr txBox="1">
            <a:spLocks/>
          </p:cNvSpPr>
          <p:nvPr/>
        </p:nvSpPr>
        <p:spPr>
          <a:xfrm>
            <a:off x="852145" y="2706457"/>
            <a:ext cx="4424272" cy="427151"/>
          </a:xfrm>
          <a:prstGeom prst="rect">
            <a:avLst/>
          </a:prstGeom>
        </p:spPr>
        <p:style>
          <a:lnRef idx="2">
            <a:schemeClr val="accent2"/>
          </a:lnRef>
          <a:fillRef idx="1">
            <a:schemeClr val="lt1"/>
          </a:fillRef>
          <a:effectRef idx="0">
            <a:schemeClr val="accent2"/>
          </a:effectRef>
          <a:fontRef idx="minor">
            <a:schemeClr val="dk1"/>
          </a:fontRef>
        </p:style>
        <p:txBody>
          <a:bodyPr>
            <a:normAutofit fontScale="6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Nombre(s) de persona profesionista experta(s)</a:t>
            </a:r>
          </a:p>
        </p:txBody>
      </p:sp>
      <p:sp>
        <p:nvSpPr>
          <p:cNvPr id="23" name="Título 1">
            <a:extLst>
              <a:ext uri="{FF2B5EF4-FFF2-40B4-BE49-F238E27FC236}">
                <a16:creationId xmlns:a16="http://schemas.microsoft.com/office/drawing/2014/main" id="{DEB0A2D0-573F-E372-2976-77CEA0382832}"/>
              </a:ext>
            </a:extLst>
          </p:cNvPr>
          <p:cNvSpPr txBox="1">
            <a:spLocks/>
          </p:cNvSpPr>
          <p:nvPr/>
        </p:nvSpPr>
        <p:spPr>
          <a:xfrm>
            <a:off x="852145" y="3313645"/>
            <a:ext cx="4424270" cy="427151"/>
          </a:xfrm>
          <a:prstGeom prst="rect">
            <a:avLst/>
          </a:prstGeom>
        </p:spPr>
        <p:style>
          <a:lnRef idx="2">
            <a:schemeClr val="accent2"/>
          </a:lnRef>
          <a:fillRef idx="1">
            <a:schemeClr val="lt1"/>
          </a:fillRef>
          <a:effectRef idx="0">
            <a:schemeClr val="accent2"/>
          </a:effectRef>
          <a:fontRef idx="minor">
            <a:schemeClr val="dk1"/>
          </a:fontRef>
        </p:style>
        <p:txBody>
          <a:bodyPr>
            <a:normAutofit fontScale="6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Apoyo solicitado por proyecto por persona profesionista experta , máximo</a:t>
            </a:r>
          </a:p>
        </p:txBody>
      </p:sp>
      <p:sp>
        <p:nvSpPr>
          <p:cNvPr id="29" name="Título 1">
            <a:extLst>
              <a:ext uri="{FF2B5EF4-FFF2-40B4-BE49-F238E27FC236}">
                <a16:creationId xmlns:a16="http://schemas.microsoft.com/office/drawing/2014/main" id="{EE5BDD7E-C708-7AA2-6E0B-D4D29DE79BB7}"/>
              </a:ext>
            </a:extLst>
          </p:cNvPr>
          <p:cNvSpPr txBox="1">
            <a:spLocks/>
          </p:cNvSpPr>
          <p:nvPr/>
        </p:nvSpPr>
        <p:spPr>
          <a:xfrm>
            <a:off x="1344760" y="3709201"/>
            <a:ext cx="3024727" cy="427151"/>
          </a:xfrm>
          <a:prstGeom prst="rect">
            <a:avLst/>
          </a:prstGeom>
        </p:spPr>
        <p:style>
          <a:lnRef idx="2">
            <a:schemeClr val="accent2"/>
          </a:lnRef>
          <a:fillRef idx="1">
            <a:schemeClr val="lt1"/>
          </a:fillRef>
          <a:effectRef idx="0">
            <a:schemeClr val="accent2"/>
          </a:effectRef>
          <a:fontRef idx="minor">
            <a:schemeClr val="dk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solidFill>
                  <a:schemeClr val="accent2">
                    <a:lumMod val="50000"/>
                  </a:schemeClr>
                </a:solidFill>
                <a:latin typeface="Gotham" pitchFamily="50" charset="0"/>
                <a:cs typeface="Gotham" pitchFamily="50" charset="0"/>
              </a:rPr>
              <a:t>$500,000.00</a:t>
            </a:r>
          </a:p>
        </p:txBody>
      </p:sp>
      <p:sp>
        <p:nvSpPr>
          <p:cNvPr id="33" name="Título 1">
            <a:extLst>
              <a:ext uri="{FF2B5EF4-FFF2-40B4-BE49-F238E27FC236}">
                <a16:creationId xmlns:a16="http://schemas.microsoft.com/office/drawing/2014/main" id="{D0B2A4A8-A82D-FAA5-5ABD-77FB14D7A198}"/>
              </a:ext>
            </a:extLst>
          </p:cNvPr>
          <p:cNvSpPr txBox="1">
            <a:spLocks/>
          </p:cNvSpPr>
          <p:nvPr/>
        </p:nvSpPr>
        <p:spPr>
          <a:xfrm>
            <a:off x="852144" y="4392044"/>
            <a:ext cx="4680400" cy="427151"/>
          </a:xfrm>
          <a:prstGeom prst="rect">
            <a:avLst/>
          </a:prstGeom>
        </p:spPr>
        <p:style>
          <a:lnRef idx="2">
            <a:schemeClr val="accent2"/>
          </a:lnRef>
          <a:fillRef idx="1">
            <a:schemeClr val="lt1"/>
          </a:fillRef>
          <a:effectRef idx="0">
            <a:schemeClr val="accent2"/>
          </a:effectRef>
          <a:fontRef idx="minor">
            <a:schemeClr val="dk1"/>
          </a:fontRef>
        </p:style>
        <p:txBody>
          <a:bodyPr>
            <a:normAutofit fontScale="6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Apoyo concurrente por proyecto,  por persona profesionista experta</a:t>
            </a:r>
          </a:p>
        </p:txBody>
      </p:sp>
      <p:sp>
        <p:nvSpPr>
          <p:cNvPr id="37" name="Título 1">
            <a:extLst>
              <a:ext uri="{FF2B5EF4-FFF2-40B4-BE49-F238E27FC236}">
                <a16:creationId xmlns:a16="http://schemas.microsoft.com/office/drawing/2014/main" id="{998297B7-C707-6728-9232-7F96CCB71C35}"/>
              </a:ext>
            </a:extLst>
          </p:cNvPr>
          <p:cNvSpPr txBox="1">
            <a:spLocks/>
          </p:cNvSpPr>
          <p:nvPr/>
        </p:nvSpPr>
        <p:spPr>
          <a:xfrm>
            <a:off x="1371594" y="4827919"/>
            <a:ext cx="3265606" cy="427151"/>
          </a:xfrm>
          <a:prstGeom prst="rect">
            <a:avLst/>
          </a:prstGeom>
        </p:spPr>
        <p:style>
          <a:lnRef idx="2">
            <a:schemeClr val="accent2"/>
          </a:lnRef>
          <a:fillRef idx="1">
            <a:schemeClr val="lt1"/>
          </a:fillRef>
          <a:effectRef idx="0">
            <a:schemeClr val="accent2"/>
          </a:effectRef>
          <a:fontRef idx="minor">
            <a:schemeClr val="dk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solidFill>
                  <a:schemeClr val="accent2">
                    <a:lumMod val="50000"/>
                  </a:schemeClr>
                </a:solidFill>
                <a:latin typeface="Gotham" pitchFamily="50" charset="0"/>
                <a:cs typeface="Gotham" pitchFamily="50" charset="0"/>
              </a:rPr>
              <a:t>$150,00.00</a:t>
            </a:r>
          </a:p>
        </p:txBody>
      </p:sp>
      <p:sp>
        <p:nvSpPr>
          <p:cNvPr id="41" name="Título 1">
            <a:extLst>
              <a:ext uri="{FF2B5EF4-FFF2-40B4-BE49-F238E27FC236}">
                <a16:creationId xmlns:a16="http://schemas.microsoft.com/office/drawing/2014/main" id="{B2BA198A-2CBD-6BDB-7B12-166AC01FB25E}"/>
              </a:ext>
            </a:extLst>
          </p:cNvPr>
          <p:cNvSpPr txBox="1">
            <a:spLocks/>
          </p:cNvSpPr>
          <p:nvPr/>
        </p:nvSpPr>
        <p:spPr>
          <a:xfrm>
            <a:off x="921903" y="5520735"/>
            <a:ext cx="4680399" cy="427151"/>
          </a:xfrm>
          <a:prstGeom prst="rect">
            <a:avLst/>
          </a:prstGeom>
        </p:spPr>
        <p:style>
          <a:lnRef idx="2">
            <a:schemeClr val="accent2"/>
          </a:lnRef>
          <a:fillRef idx="1">
            <a:schemeClr val="lt1"/>
          </a:fillRef>
          <a:effectRef idx="0">
            <a:schemeClr val="accent2"/>
          </a:effectRef>
          <a:fontRef idx="minor">
            <a:schemeClr val="dk1"/>
          </a:fontRef>
        </p:style>
        <p:txBody>
          <a:bodyPr>
            <a:normAutofit fontScale="6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Periodo máximo de participación, por persona profesionista experta </a:t>
            </a:r>
          </a:p>
        </p:txBody>
      </p:sp>
      <p:sp>
        <p:nvSpPr>
          <p:cNvPr id="45" name="Título 1">
            <a:extLst>
              <a:ext uri="{FF2B5EF4-FFF2-40B4-BE49-F238E27FC236}">
                <a16:creationId xmlns:a16="http://schemas.microsoft.com/office/drawing/2014/main" id="{E187E804-CF3B-DBA5-F467-A9F15DAF213F}"/>
              </a:ext>
            </a:extLst>
          </p:cNvPr>
          <p:cNvSpPr txBox="1">
            <a:spLocks/>
          </p:cNvSpPr>
          <p:nvPr/>
        </p:nvSpPr>
        <p:spPr>
          <a:xfrm>
            <a:off x="1649062" y="5947886"/>
            <a:ext cx="2988138" cy="427151"/>
          </a:xfrm>
          <a:prstGeom prst="rect">
            <a:avLst/>
          </a:prstGeom>
        </p:spPr>
        <p:style>
          <a:lnRef idx="2">
            <a:schemeClr val="accent2"/>
          </a:lnRef>
          <a:fillRef idx="1">
            <a:schemeClr val="lt1"/>
          </a:fillRef>
          <a:effectRef idx="0">
            <a:schemeClr val="accent2"/>
          </a:effectRef>
          <a:fontRef idx="minor">
            <a:schemeClr val="dk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solidFill>
                  <a:schemeClr val="accent2">
                    <a:lumMod val="50000"/>
                  </a:schemeClr>
                </a:solidFill>
                <a:latin typeface="Gotham" pitchFamily="50" charset="0"/>
                <a:cs typeface="Gotham" pitchFamily="50" charset="0"/>
              </a:rPr>
              <a:t>12 meses</a:t>
            </a:r>
          </a:p>
        </p:txBody>
      </p:sp>
      <p:sp>
        <p:nvSpPr>
          <p:cNvPr id="2" name="Título 1">
            <a:extLst>
              <a:ext uri="{FF2B5EF4-FFF2-40B4-BE49-F238E27FC236}">
                <a16:creationId xmlns:a16="http://schemas.microsoft.com/office/drawing/2014/main" id="{8066E7DF-A9F4-50F1-82FB-8A7C415EC5C4}"/>
              </a:ext>
            </a:extLst>
          </p:cNvPr>
          <p:cNvSpPr txBox="1">
            <a:spLocks/>
          </p:cNvSpPr>
          <p:nvPr/>
        </p:nvSpPr>
        <p:spPr>
          <a:xfrm>
            <a:off x="1248182" y="1079685"/>
            <a:ext cx="3550272" cy="493935"/>
          </a:xfrm>
          <a:prstGeom prst="rect">
            <a:avLst/>
          </a:prstGeom>
          <a:effectLst>
            <a:outerShdw blurRad="50800" dist="38100" dir="18900000" algn="b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Persona profesionista experta nacional</a:t>
            </a:r>
          </a:p>
        </p:txBody>
      </p:sp>
      <p:sp>
        <p:nvSpPr>
          <p:cNvPr id="3" name="Título 1">
            <a:extLst>
              <a:ext uri="{FF2B5EF4-FFF2-40B4-BE49-F238E27FC236}">
                <a16:creationId xmlns:a16="http://schemas.microsoft.com/office/drawing/2014/main" id="{9BBB306D-2543-2708-3865-A204D8234FE1}"/>
              </a:ext>
            </a:extLst>
          </p:cNvPr>
          <p:cNvSpPr txBox="1">
            <a:spLocks/>
          </p:cNvSpPr>
          <p:nvPr/>
        </p:nvSpPr>
        <p:spPr>
          <a:xfrm>
            <a:off x="7350615" y="1079684"/>
            <a:ext cx="3418274" cy="493935"/>
          </a:xfrm>
          <a:prstGeom prst="rect">
            <a:avLst/>
          </a:prstGeom>
          <a:effectLst>
            <a:outerShdw blurRad="50800" dist="38100" dir="18900000" algn="b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Persona profesionista experta extranjera</a:t>
            </a:r>
          </a:p>
        </p:txBody>
      </p:sp>
      <p:sp>
        <p:nvSpPr>
          <p:cNvPr id="9" name="Título 1">
            <a:extLst>
              <a:ext uri="{FF2B5EF4-FFF2-40B4-BE49-F238E27FC236}">
                <a16:creationId xmlns:a16="http://schemas.microsoft.com/office/drawing/2014/main" id="{E3FB874D-C88C-97BF-458A-B1F17D194624}"/>
              </a:ext>
            </a:extLst>
          </p:cNvPr>
          <p:cNvSpPr txBox="1">
            <a:spLocks/>
          </p:cNvSpPr>
          <p:nvPr/>
        </p:nvSpPr>
        <p:spPr>
          <a:xfrm>
            <a:off x="6993229" y="2046167"/>
            <a:ext cx="4424272" cy="427151"/>
          </a:xfrm>
          <a:prstGeom prst="rect">
            <a:avLst/>
          </a:prstGeom>
        </p:spPr>
        <p:style>
          <a:lnRef idx="2">
            <a:schemeClr val="accent2"/>
          </a:lnRef>
          <a:fillRef idx="1">
            <a:schemeClr val="lt1"/>
          </a:fillRef>
          <a:effectRef idx="0">
            <a:schemeClr val="accent2"/>
          </a:effectRef>
          <a:fontRef idx="minor">
            <a:schemeClr val="dk1"/>
          </a:fontRef>
        </p:style>
        <p:txBody>
          <a:bodyPr>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Núm. de persona profesionista experta</a:t>
            </a:r>
          </a:p>
        </p:txBody>
      </p:sp>
      <p:sp>
        <p:nvSpPr>
          <p:cNvPr id="10" name="Título 1">
            <a:extLst>
              <a:ext uri="{FF2B5EF4-FFF2-40B4-BE49-F238E27FC236}">
                <a16:creationId xmlns:a16="http://schemas.microsoft.com/office/drawing/2014/main" id="{D1481D46-8656-02ED-37F4-49CE1DC706F3}"/>
              </a:ext>
            </a:extLst>
          </p:cNvPr>
          <p:cNvSpPr txBox="1">
            <a:spLocks/>
          </p:cNvSpPr>
          <p:nvPr/>
        </p:nvSpPr>
        <p:spPr>
          <a:xfrm>
            <a:off x="6993230" y="2704309"/>
            <a:ext cx="4424272" cy="427151"/>
          </a:xfrm>
          <a:prstGeom prst="rect">
            <a:avLst/>
          </a:prstGeom>
        </p:spPr>
        <p:style>
          <a:lnRef idx="2">
            <a:schemeClr val="accent2"/>
          </a:lnRef>
          <a:fillRef idx="1">
            <a:schemeClr val="lt1"/>
          </a:fillRef>
          <a:effectRef idx="0">
            <a:schemeClr val="accent2"/>
          </a:effectRef>
          <a:fontRef idx="minor">
            <a:schemeClr val="dk1"/>
          </a:fontRef>
        </p:style>
        <p:txBody>
          <a:bodyPr>
            <a:normAutofit fontScale="6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Nombre(s) de persona profesionista experta(s)</a:t>
            </a:r>
          </a:p>
        </p:txBody>
      </p:sp>
      <p:sp>
        <p:nvSpPr>
          <p:cNvPr id="11" name="Título 1">
            <a:extLst>
              <a:ext uri="{FF2B5EF4-FFF2-40B4-BE49-F238E27FC236}">
                <a16:creationId xmlns:a16="http://schemas.microsoft.com/office/drawing/2014/main" id="{3DDCA8EF-02FD-D81B-A95A-72C3CA968FF9}"/>
              </a:ext>
            </a:extLst>
          </p:cNvPr>
          <p:cNvSpPr txBox="1">
            <a:spLocks/>
          </p:cNvSpPr>
          <p:nvPr/>
        </p:nvSpPr>
        <p:spPr>
          <a:xfrm>
            <a:off x="6993230" y="3311497"/>
            <a:ext cx="4424270" cy="427151"/>
          </a:xfrm>
          <a:prstGeom prst="rect">
            <a:avLst/>
          </a:prstGeom>
        </p:spPr>
        <p:style>
          <a:lnRef idx="2">
            <a:schemeClr val="accent2"/>
          </a:lnRef>
          <a:fillRef idx="1">
            <a:schemeClr val="lt1"/>
          </a:fillRef>
          <a:effectRef idx="0">
            <a:schemeClr val="accent2"/>
          </a:effectRef>
          <a:fontRef idx="minor">
            <a:schemeClr val="dk1"/>
          </a:fontRef>
        </p:style>
        <p:txBody>
          <a:bodyPr>
            <a:normAutofit fontScale="6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Apoyo solicitado por proyecto por persona profesionista experta , máximo</a:t>
            </a:r>
          </a:p>
        </p:txBody>
      </p:sp>
      <p:sp>
        <p:nvSpPr>
          <p:cNvPr id="12" name="Título 1">
            <a:extLst>
              <a:ext uri="{FF2B5EF4-FFF2-40B4-BE49-F238E27FC236}">
                <a16:creationId xmlns:a16="http://schemas.microsoft.com/office/drawing/2014/main" id="{0B4C9615-D5C6-9EC4-5682-2501E0A14668}"/>
              </a:ext>
            </a:extLst>
          </p:cNvPr>
          <p:cNvSpPr txBox="1">
            <a:spLocks/>
          </p:cNvSpPr>
          <p:nvPr/>
        </p:nvSpPr>
        <p:spPr>
          <a:xfrm>
            <a:off x="7485845" y="3707053"/>
            <a:ext cx="3024727" cy="427151"/>
          </a:xfrm>
          <a:prstGeom prst="rect">
            <a:avLst/>
          </a:prstGeom>
        </p:spPr>
        <p:style>
          <a:lnRef idx="2">
            <a:schemeClr val="accent2"/>
          </a:lnRef>
          <a:fillRef idx="1">
            <a:schemeClr val="lt1"/>
          </a:fillRef>
          <a:effectRef idx="0">
            <a:schemeClr val="accent2"/>
          </a:effectRef>
          <a:fontRef idx="minor">
            <a:schemeClr val="dk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solidFill>
                  <a:schemeClr val="accent2">
                    <a:lumMod val="50000"/>
                  </a:schemeClr>
                </a:solidFill>
                <a:latin typeface="Gotham" pitchFamily="50" charset="0"/>
                <a:cs typeface="Gotham" pitchFamily="50" charset="0"/>
              </a:rPr>
              <a:t>$500,000.00</a:t>
            </a:r>
          </a:p>
        </p:txBody>
      </p:sp>
      <p:sp>
        <p:nvSpPr>
          <p:cNvPr id="46" name="Título 1">
            <a:extLst>
              <a:ext uri="{FF2B5EF4-FFF2-40B4-BE49-F238E27FC236}">
                <a16:creationId xmlns:a16="http://schemas.microsoft.com/office/drawing/2014/main" id="{BFAF67C7-0E1D-D362-9A10-0B04D7A48372}"/>
              </a:ext>
            </a:extLst>
          </p:cNvPr>
          <p:cNvSpPr txBox="1">
            <a:spLocks/>
          </p:cNvSpPr>
          <p:nvPr/>
        </p:nvSpPr>
        <p:spPr>
          <a:xfrm>
            <a:off x="6993229" y="4389896"/>
            <a:ext cx="4680400" cy="427151"/>
          </a:xfrm>
          <a:prstGeom prst="rect">
            <a:avLst/>
          </a:prstGeom>
        </p:spPr>
        <p:style>
          <a:lnRef idx="2">
            <a:schemeClr val="accent2"/>
          </a:lnRef>
          <a:fillRef idx="1">
            <a:schemeClr val="lt1"/>
          </a:fillRef>
          <a:effectRef idx="0">
            <a:schemeClr val="accent2"/>
          </a:effectRef>
          <a:fontRef idx="minor">
            <a:schemeClr val="dk1"/>
          </a:fontRef>
        </p:style>
        <p:txBody>
          <a:bodyPr>
            <a:normAutofit fontScale="6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Apoyo concurrente por proyecto,  por persona profesionista experta</a:t>
            </a:r>
          </a:p>
        </p:txBody>
      </p:sp>
      <p:sp>
        <p:nvSpPr>
          <p:cNvPr id="47" name="Título 1">
            <a:extLst>
              <a:ext uri="{FF2B5EF4-FFF2-40B4-BE49-F238E27FC236}">
                <a16:creationId xmlns:a16="http://schemas.microsoft.com/office/drawing/2014/main" id="{389C466C-A609-4A60-7358-61077899C7C7}"/>
              </a:ext>
            </a:extLst>
          </p:cNvPr>
          <p:cNvSpPr txBox="1">
            <a:spLocks/>
          </p:cNvSpPr>
          <p:nvPr/>
        </p:nvSpPr>
        <p:spPr>
          <a:xfrm>
            <a:off x="7512679" y="4825771"/>
            <a:ext cx="3265606" cy="427151"/>
          </a:xfrm>
          <a:prstGeom prst="rect">
            <a:avLst/>
          </a:prstGeom>
        </p:spPr>
        <p:style>
          <a:lnRef idx="2">
            <a:schemeClr val="accent2"/>
          </a:lnRef>
          <a:fillRef idx="1">
            <a:schemeClr val="lt1"/>
          </a:fillRef>
          <a:effectRef idx="0">
            <a:schemeClr val="accent2"/>
          </a:effectRef>
          <a:fontRef idx="minor">
            <a:schemeClr val="dk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solidFill>
                  <a:schemeClr val="accent2">
                    <a:lumMod val="50000"/>
                  </a:schemeClr>
                </a:solidFill>
                <a:latin typeface="Gotham" pitchFamily="50" charset="0"/>
                <a:cs typeface="Gotham" pitchFamily="50" charset="0"/>
              </a:rPr>
              <a:t>$150,00.00</a:t>
            </a:r>
          </a:p>
        </p:txBody>
      </p:sp>
      <p:sp>
        <p:nvSpPr>
          <p:cNvPr id="48" name="Título 1">
            <a:extLst>
              <a:ext uri="{FF2B5EF4-FFF2-40B4-BE49-F238E27FC236}">
                <a16:creationId xmlns:a16="http://schemas.microsoft.com/office/drawing/2014/main" id="{0339C1B4-D8B9-B8E5-EC47-9396A09BF238}"/>
              </a:ext>
            </a:extLst>
          </p:cNvPr>
          <p:cNvSpPr txBox="1">
            <a:spLocks/>
          </p:cNvSpPr>
          <p:nvPr/>
        </p:nvSpPr>
        <p:spPr>
          <a:xfrm>
            <a:off x="7062988" y="5518587"/>
            <a:ext cx="4680399" cy="427151"/>
          </a:xfrm>
          <a:prstGeom prst="rect">
            <a:avLst/>
          </a:prstGeom>
        </p:spPr>
        <p:style>
          <a:lnRef idx="2">
            <a:schemeClr val="accent2"/>
          </a:lnRef>
          <a:fillRef idx="1">
            <a:schemeClr val="lt1"/>
          </a:fillRef>
          <a:effectRef idx="0">
            <a:schemeClr val="accent2"/>
          </a:effectRef>
          <a:fontRef idx="minor">
            <a:schemeClr val="dk1"/>
          </a:fontRef>
        </p:style>
        <p:txBody>
          <a:bodyPr>
            <a:normAutofit fontScale="6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Periodo máximo de participación, por persona profesionista experta </a:t>
            </a:r>
          </a:p>
        </p:txBody>
      </p:sp>
      <p:sp>
        <p:nvSpPr>
          <p:cNvPr id="49" name="Título 1">
            <a:extLst>
              <a:ext uri="{FF2B5EF4-FFF2-40B4-BE49-F238E27FC236}">
                <a16:creationId xmlns:a16="http://schemas.microsoft.com/office/drawing/2014/main" id="{D829479A-30EC-0ADD-C870-22CD70498B07}"/>
              </a:ext>
            </a:extLst>
          </p:cNvPr>
          <p:cNvSpPr txBox="1">
            <a:spLocks/>
          </p:cNvSpPr>
          <p:nvPr/>
        </p:nvSpPr>
        <p:spPr>
          <a:xfrm>
            <a:off x="7790147" y="5945738"/>
            <a:ext cx="2988138" cy="427151"/>
          </a:xfrm>
          <a:prstGeom prst="rect">
            <a:avLst/>
          </a:prstGeom>
        </p:spPr>
        <p:style>
          <a:lnRef idx="2">
            <a:schemeClr val="accent2"/>
          </a:lnRef>
          <a:fillRef idx="1">
            <a:schemeClr val="lt1"/>
          </a:fillRef>
          <a:effectRef idx="0">
            <a:schemeClr val="accent2"/>
          </a:effectRef>
          <a:fontRef idx="minor">
            <a:schemeClr val="dk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solidFill>
                  <a:schemeClr val="accent2">
                    <a:lumMod val="50000"/>
                  </a:schemeClr>
                </a:solidFill>
                <a:latin typeface="Gotham" pitchFamily="50" charset="0"/>
                <a:cs typeface="Gotham" pitchFamily="50" charset="0"/>
              </a:rPr>
              <a:t>12 meses</a:t>
            </a:r>
          </a:p>
        </p:txBody>
      </p:sp>
      <p:sp>
        <p:nvSpPr>
          <p:cNvPr id="50" name="Título 1">
            <a:extLst>
              <a:ext uri="{FF2B5EF4-FFF2-40B4-BE49-F238E27FC236}">
                <a16:creationId xmlns:a16="http://schemas.microsoft.com/office/drawing/2014/main" id="{60D80B8D-FBB4-47FF-F351-2A53F489FACF}"/>
              </a:ext>
            </a:extLst>
          </p:cNvPr>
          <p:cNvSpPr txBox="1">
            <a:spLocks/>
          </p:cNvSpPr>
          <p:nvPr/>
        </p:nvSpPr>
        <p:spPr>
          <a:xfrm>
            <a:off x="331959" y="291511"/>
            <a:ext cx="4037528" cy="493935"/>
          </a:xfrm>
          <a:prstGeom prst="rect">
            <a:avLst/>
          </a:prstGeom>
          <a:effectLst>
            <a:outerShdw blurRad="50800" dist="38100" dir="18900000" algn="b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dirty="0">
                <a:latin typeface="Gotham" pitchFamily="50" charset="0"/>
                <a:cs typeface="Gotham" pitchFamily="50" charset="0"/>
              </a:rPr>
              <a:t>Persona profesionista experta(s) nacional o extranjera</a:t>
            </a:r>
          </a:p>
        </p:txBody>
      </p:sp>
    </p:spTree>
    <p:extLst>
      <p:ext uri="{BB962C8B-B14F-4D97-AF65-F5344CB8AC3E}">
        <p14:creationId xmlns:p14="http://schemas.microsoft.com/office/powerpoint/2010/main" val="1648490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95416-0DBC-1F15-7CAA-91D2C0608E8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374125C-C7F2-7218-5AF7-70CFCE9E0635}"/>
              </a:ext>
            </a:extLst>
          </p:cNvPr>
          <p:cNvSpPr txBox="1">
            <a:spLocks/>
          </p:cNvSpPr>
          <p:nvPr/>
        </p:nvSpPr>
        <p:spPr>
          <a:xfrm>
            <a:off x="314459" y="276895"/>
            <a:ext cx="7906555" cy="547353"/>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a:latin typeface="Gotham" pitchFamily="50" charset="0"/>
                <a:cs typeface="Gotham" pitchFamily="50" charset="0"/>
              </a:rPr>
              <a:t>Formatos de la Persona Solicitante</a:t>
            </a:r>
          </a:p>
        </p:txBody>
      </p:sp>
      <p:sp>
        <p:nvSpPr>
          <p:cNvPr id="3" name="Título 1">
            <a:extLst>
              <a:ext uri="{FF2B5EF4-FFF2-40B4-BE49-F238E27FC236}">
                <a16:creationId xmlns:a16="http://schemas.microsoft.com/office/drawing/2014/main" id="{C0CC046F-F099-5D0E-30B8-0EA17FFECB9B}"/>
              </a:ext>
            </a:extLst>
          </p:cNvPr>
          <p:cNvSpPr txBox="1">
            <a:spLocks/>
          </p:cNvSpPr>
          <p:nvPr/>
        </p:nvSpPr>
        <p:spPr>
          <a:xfrm>
            <a:off x="8512935" y="330368"/>
            <a:ext cx="3342067" cy="493935"/>
          </a:xfrm>
          <a:prstGeom prst="rect">
            <a:avLst/>
          </a:prstGeom>
          <a:ln>
            <a:noFill/>
          </a:ln>
        </p:spPr>
        <p:style>
          <a:lnRef idx="2">
            <a:schemeClr val="accent2"/>
          </a:lnRef>
          <a:fillRef idx="1">
            <a:schemeClr val="lt1"/>
          </a:fillRef>
          <a:effectRef idx="0">
            <a:schemeClr val="accent2"/>
          </a:effectRef>
          <a:fontRef idx="minor">
            <a:schemeClr val="dk1"/>
          </a:fontRef>
        </p:style>
        <p:txBody>
          <a:bodyP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400" b="1" dirty="0">
                <a:latin typeface="Gotham" pitchFamily="50" charset="0"/>
                <a:cs typeface="Gotham" pitchFamily="50" charset="0"/>
              </a:rPr>
              <a:t>Nota: Documentos para descarga y poder subir en formato PDF</a:t>
            </a:r>
            <a:endParaRPr lang="es-MX" sz="2400" dirty="0">
              <a:latin typeface="Gotham" pitchFamily="50" charset="0"/>
              <a:cs typeface="Gotham" pitchFamily="50" charset="0"/>
            </a:endParaRPr>
          </a:p>
        </p:txBody>
      </p:sp>
      <p:graphicFrame>
        <p:nvGraphicFramePr>
          <p:cNvPr id="4" name="Tabla 3">
            <a:extLst>
              <a:ext uri="{FF2B5EF4-FFF2-40B4-BE49-F238E27FC236}">
                <a16:creationId xmlns:a16="http://schemas.microsoft.com/office/drawing/2014/main" id="{82D2946E-2A73-4E3C-019E-CC6530EEAAF5}"/>
              </a:ext>
            </a:extLst>
          </p:cNvPr>
          <p:cNvGraphicFramePr>
            <a:graphicFrameLocks noGrp="1"/>
          </p:cNvGraphicFramePr>
          <p:nvPr>
            <p:extLst>
              <p:ext uri="{D42A27DB-BD31-4B8C-83A1-F6EECF244321}">
                <p14:modId xmlns:p14="http://schemas.microsoft.com/office/powerpoint/2010/main" val="2308089027"/>
              </p:ext>
            </p:extLst>
          </p:nvPr>
        </p:nvGraphicFramePr>
        <p:xfrm>
          <a:off x="314459" y="1492018"/>
          <a:ext cx="10515599" cy="3291840"/>
        </p:xfrm>
        <a:graphic>
          <a:graphicData uri="http://schemas.openxmlformats.org/drawingml/2006/table">
            <a:tbl>
              <a:tblPr firstRow="1" firstCol="1" bandRow="1"/>
              <a:tblGrid>
                <a:gridCol w="569945">
                  <a:extLst>
                    <a:ext uri="{9D8B030D-6E8A-4147-A177-3AD203B41FA5}">
                      <a16:colId xmlns:a16="http://schemas.microsoft.com/office/drawing/2014/main" val="2941251184"/>
                    </a:ext>
                  </a:extLst>
                </a:gridCol>
                <a:gridCol w="7506036">
                  <a:extLst>
                    <a:ext uri="{9D8B030D-6E8A-4147-A177-3AD203B41FA5}">
                      <a16:colId xmlns:a16="http://schemas.microsoft.com/office/drawing/2014/main" val="2463712697"/>
                    </a:ext>
                  </a:extLst>
                </a:gridCol>
                <a:gridCol w="1219809">
                  <a:extLst>
                    <a:ext uri="{9D8B030D-6E8A-4147-A177-3AD203B41FA5}">
                      <a16:colId xmlns:a16="http://schemas.microsoft.com/office/drawing/2014/main" val="1641029602"/>
                    </a:ext>
                  </a:extLst>
                </a:gridCol>
                <a:gridCol w="1219809">
                  <a:extLst>
                    <a:ext uri="{9D8B030D-6E8A-4147-A177-3AD203B41FA5}">
                      <a16:colId xmlns:a16="http://schemas.microsoft.com/office/drawing/2014/main" val="1448700621"/>
                    </a:ext>
                  </a:extLst>
                </a:gridCol>
              </a:tblGrid>
              <a:tr h="215771">
                <a:tc gridSpan="4">
                  <a:txBody>
                    <a:bodyPr/>
                    <a:lstStyle/>
                    <a:p>
                      <a:pPr algn="ctr">
                        <a:buNone/>
                      </a:pPr>
                      <a:r>
                        <a:rPr lang="es-ES_tradnl" sz="2400" b="1" dirty="0">
                          <a:solidFill>
                            <a:srgbClr val="FFFFFF"/>
                          </a:solidFill>
                          <a:effectLst/>
                          <a:latin typeface="Gotham" pitchFamily="50" charset="0"/>
                          <a:ea typeface="Calibri" panose="020F0502020204030204" pitchFamily="34" charset="0"/>
                          <a:cs typeface="Times New Roman" panose="02020603050405020304" pitchFamily="18" charset="0"/>
                        </a:rPr>
                        <a:t>8.1.4 FORMATOS</a:t>
                      </a:r>
                      <a:endParaRPr lang="es-MX" sz="4000" dirty="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tc hMerge="1">
                  <a:txBody>
                    <a:bodyPr/>
                    <a:lstStyle/>
                    <a:p>
                      <a:endParaRPr lang="es-MX"/>
                    </a:p>
                  </a:txBody>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3484218994"/>
                  </a:ext>
                </a:extLst>
              </a:tr>
              <a:tr h="137078">
                <a:tc>
                  <a:txBody>
                    <a:bodyPr/>
                    <a:lstStyle/>
                    <a:p>
                      <a:pPr algn="ctr">
                        <a:buNone/>
                      </a:pPr>
                      <a:r>
                        <a:rPr lang="es-MX" sz="1800" b="1" dirty="0">
                          <a:solidFill>
                            <a:srgbClr val="C00000"/>
                          </a:solidFill>
                          <a:effectLst/>
                          <a:latin typeface="Gotham" pitchFamily="50" charset="0"/>
                          <a:ea typeface="MS Mincho" panose="02020609040205080304" pitchFamily="49" charset="-128"/>
                          <a:cs typeface="Gotham Light" pitchFamily="50" charset="0"/>
                        </a:rPr>
                        <a:t>No.</a:t>
                      </a:r>
                      <a:endParaRPr lang="es-MX"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tabLst>
                          <a:tab pos="180340" algn="l"/>
                        </a:tabLst>
                      </a:pPr>
                      <a:r>
                        <a:rPr lang="es-MX" sz="1800" b="1" dirty="0">
                          <a:solidFill>
                            <a:srgbClr val="C00000"/>
                          </a:solidFill>
                          <a:effectLst/>
                          <a:latin typeface="Gotham" pitchFamily="50" charset="0"/>
                          <a:ea typeface="MS Mincho" panose="02020609040205080304" pitchFamily="49" charset="-128"/>
                          <a:cs typeface="Gotham Light" pitchFamily="50" charset="0"/>
                        </a:rPr>
                        <a:t>Documento</a:t>
                      </a:r>
                      <a:endParaRPr lang="es-MX"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MX" sz="1200" dirty="0">
                          <a:effectLst/>
                          <a:latin typeface="Calibri" panose="020F0502020204030204" pitchFamily="34" charset="0"/>
                          <a:ea typeface="Calibri" panose="020F0502020204030204" pitchFamily="34" charset="0"/>
                          <a:cs typeface="Times New Roman" panose="02020603050405020304" pitchFamily="18" charset="0"/>
                        </a:rPr>
                        <a:t>Subir archivo (PDF)</a:t>
                      </a: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MX" sz="1200" dirty="0">
                          <a:effectLst/>
                          <a:latin typeface="Calibri" panose="020F0502020204030204" pitchFamily="34" charset="0"/>
                          <a:ea typeface="Calibri" panose="020F0502020204030204" pitchFamily="34" charset="0"/>
                          <a:cs typeface="Times New Roman" panose="02020603050405020304" pitchFamily="18" charset="0"/>
                        </a:rPr>
                        <a:t>Revisado Comecyt</a:t>
                      </a: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64676829"/>
                  </a:ext>
                </a:extLst>
              </a:tr>
              <a:tr h="144059">
                <a:tc>
                  <a:txBody>
                    <a:bodyPr/>
                    <a:lstStyle/>
                    <a:p>
                      <a:pPr algn="ctr">
                        <a:buNone/>
                      </a:pPr>
                      <a:r>
                        <a:rPr lang="es-MX" sz="2400">
                          <a:effectLst/>
                          <a:latin typeface="Gotham" pitchFamily="50" charset="0"/>
                          <a:ea typeface="Calibri" panose="020F0502020204030204" pitchFamily="34" charset="0"/>
                          <a:cs typeface="Times New Roman" panose="02020603050405020304" pitchFamily="18" charset="0"/>
                        </a:rPr>
                        <a:t>a)</a:t>
                      </a:r>
                      <a:endParaRPr lang="es-MX" sz="4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tabLst>
                          <a:tab pos="180340" algn="l"/>
                        </a:tabLst>
                      </a:pPr>
                      <a:r>
                        <a:rPr lang="es-MX" sz="2400" dirty="0">
                          <a:effectLst/>
                          <a:latin typeface="Gotham" pitchFamily="50" charset="0"/>
                          <a:ea typeface="Calibri" panose="020F0502020204030204" pitchFamily="34" charset="0"/>
                          <a:cs typeface="Times New Roman" panose="02020603050405020304" pitchFamily="18" charset="0"/>
                        </a:rPr>
                        <a:t>Ficha Técnica.   </a:t>
                      </a:r>
                      <a:r>
                        <a:rPr lang="es-MX" sz="2400" dirty="0">
                          <a:solidFill>
                            <a:schemeClr val="accent1">
                              <a:lumMod val="75000"/>
                            </a:schemeClr>
                          </a:solidFill>
                          <a:effectLst/>
                          <a:latin typeface="Gotham" pitchFamily="50" charset="0"/>
                          <a:ea typeface="Calibri" panose="020F0502020204030204" pitchFamily="34" charset="0"/>
                          <a:cs typeface="Times New Roman" panose="02020603050405020304" pitchFamily="18" charset="0"/>
                        </a:rPr>
                        <a:t>(descargar doc.)</a:t>
                      </a:r>
                      <a:endParaRPr lang="es-MX" sz="4000" dirty="0">
                        <a:solidFill>
                          <a:schemeClr val="accent1">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2400">
                          <a:effectLst/>
                          <a:latin typeface="Gotham" pitchFamily="50" charset="0"/>
                          <a:ea typeface="Calibri" panose="020F0502020204030204" pitchFamily="34" charset="0"/>
                          <a:cs typeface="Times New Roman" panose="02020603050405020304" pitchFamily="18" charset="0"/>
                        </a:rPr>
                        <a:t> </a:t>
                      </a:r>
                      <a:endParaRPr lang="es-MX" sz="4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2400">
                          <a:solidFill>
                            <a:srgbClr val="FF0000"/>
                          </a:solidFill>
                          <a:effectLst/>
                          <a:latin typeface="Gotham" pitchFamily="50" charset="0"/>
                          <a:ea typeface="Calibri" panose="020F0502020204030204" pitchFamily="34" charset="0"/>
                          <a:cs typeface="Times New Roman" panose="02020603050405020304" pitchFamily="18" charset="0"/>
                        </a:rPr>
                        <a:t> </a:t>
                      </a:r>
                      <a:endParaRPr lang="es-MX" sz="4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64730974"/>
                  </a:ext>
                </a:extLst>
              </a:tr>
              <a:tr h="144059">
                <a:tc>
                  <a:txBody>
                    <a:bodyPr/>
                    <a:lstStyle/>
                    <a:p>
                      <a:pPr algn="ctr">
                        <a:buNone/>
                      </a:pPr>
                      <a:r>
                        <a:rPr lang="es-MX" sz="2400">
                          <a:effectLst/>
                          <a:latin typeface="Gotham" pitchFamily="50" charset="0"/>
                          <a:ea typeface="Calibri" panose="020F0502020204030204" pitchFamily="34" charset="0"/>
                          <a:cs typeface="Times New Roman" panose="02020603050405020304" pitchFamily="18" charset="0"/>
                        </a:rPr>
                        <a:t>b)</a:t>
                      </a:r>
                      <a:endParaRPr lang="es-MX" sz="4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tabLst>
                          <a:tab pos="180340" algn="l"/>
                        </a:tabLst>
                      </a:pPr>
                      <a:r>
                        <a:rPr lang="es-MX" sz="2400" dirty="0">
                          <a:effectLst/>
                          <a:latin typeface="Gotham" pitchFamily="50" charset="0"/>
                          <a:ea typeface="Calibri" panose="020F0502020204030204" pitchFamily="34" charset="0"/>
                          <a:cs typeface="Times New Roman" panose="02020603050405020304" pitchFamily="18" charset="0"/>
                        </a:rPr>
                        <a:t>Anexo 1: Plan de Trabajo. </a:t>
                      </a:r>
                      <a:r>
                        <a:rPr lang="es-MX" sz="2400" dirty="0">
                          <a:solidFill>
                            <a:schemeClr val="accent1">
                              <a:lumMod val="75000"/>
                            </a:schemeClr>
                          </a:solidFill>
                          <a:effectLst/>
                          <a:latin typeface="Gotham" pitchFamily="50" charset="0"/>
                          <a:ea typeface="Calibri" panose="020F0502020204030204" pitchFamily="34" charset="0"/>
                          <a:cs typeface="Times New Roman" panose="02020603050405020304" pitchFamily="18" charset="0"/>
                        </a:rPr>
                        <a:t>(descargar doc.)</a:t>
                      </a:r>
                      <a:endParaRPr lang="es-MX" sz="4000" dirty="0">
                        <a:solidFill>
                          <a:schemeClr val="accent1">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2400">
                          <a:effectLst/>
                          <a:latin typeface="Gotham" pitchFamily="50" charset="0"/>
                          <a:ea typeface="Calibri" panose="020F0502020204030204" pitchFamily="34" charset="0"/>
                          <a:cs typeface="Times New Roman" panose="02020603050405020304" pitchFamily="18" charset="0"/>
                        </a:rPr>
                        <a:t> </a:t>
                      </a:r>
                      <a:endParaRPr lang="es-MX" sz="4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2400">
                          <a:solidFill>
                            <a:srgbClr val="FF0000"/>
                          </a:solidFill>
                          <a:effectLst/>
                          <a:latin typeface="Gotham" pitchFamily="50" charset="0"/>
                          <a:ea typeface="Calibri" panose="020F0502020204030204" pitchFamily="34" charset="0"/>
                          <a:cs typeface="Times New Roman" panose="02020603050405020304" pitchFamily="18" charset="0"/>
                        </a:rPr>
                        <a:t> </a:t>
                      </a:r>
                      <a:endParaRPr lang="es-MX" sz="4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9503673"/>
                  </a:ext>
                </a:extLst>
              </a:tr>
              <a:tr h="144059">
                <a:tc>
                  <a:txBody>
                    <a:bodyPr/>
                    <a:lstStyle/>
                    <a:p>
                      <a:pPr algn="ctr">
                        <a:buNone/>
                      </a:pPr>
                      <a:r>
                        <a:rPr lang="es-MX" sz="2400">
                          <a:effectLst/>
                          <a:latin typeface="Gotham" pitchFamily="50" charset="0"/>
                          <a:ea typeface="Calibri" panose="020F0502020204030204" pitchFamily="34" charset="0"/>
                          <a:cs typeface="Times New Roman" panose="02020603050405020304" pitchFamily="18" charset="0"/>
                        </a:rPr>
                        <a:t>c)</a:t>
                      </a:r>
                      <a:endParaRPr lang="es-MX" sz="4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tabLst>
                          <a:tab pos="180340" algn="l"/>
                        </a:tabLst>
                      </a:pPr>
                      <a:r>
                        <a:rPr lang="es-MX" sz="2400" dirty="0">
                          <a:effectLst/>
                          <a:latin typeface="Gotham" pitchFamily="50" charset="0"/>
                          <a:ea typeface="Calibri" panose="020F0502020204030204" pitchFamily="34" charset="0"/>
                          <a:cs typeface="Times New Roman" panose="02020603050405020304" pitchFamily="18" charset="0"/>
                        </a:rPr>
                        <a:t>Anexo 2: Presupuesto. (descargar doc.)</a:t>
                      </a:r>
                      <a:endParaRPr lang="es-MX" sz="4000" dirty="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2400">
                          <a:effectLst/>
                          <a:latin typeface="Gotham" pitchFamily="50" charset="0"/>
                          <a:ea typeface="Calibri" panose="020F0502020204030204" pitchFamily="34" charset="0"/>
                          <a:cs typeface="Times New Roman" panose="02020603050405020304" pitchFamily="18" charset="0"/>
                        </a:rPr>
                        <a:t> </a:t>
                      </a:r>
                      <a:endParaRPr lang="es-MX" sz="4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2400">
                          <a:solidFill>
                            <a:srgbClr val="FF0000"/>
                          </a:solidFill>
                          <a:effectLst/>
                          <a:latin typeface="Gotham" pitchFamily="50" charset="0"/>
                          <a:ea typeface="Calibri" panose="020F0502020204030204" pitchFamily="34" charset="0"/>
                          <a:cs typeface="Times New Roman" panose="02020603050405020304" pitchFamily="18" charset="0"/>
                        </a:rPr>
                        <a:t> </a:t>
                      </a:r>
                      <a:endParaRPr lang="es-MX" sz="4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46236507"/>
                  </a:ext>
                </a:extLst>
              </a:tr>
              <a:tr h="144059">
                <a:tc>
                  <a:txBody>
                    <a:bodyPr/>
                    <a:lstStyle/>
                    <a:p>
                      <a:pPr algn="ctr">
                        <a:buNone/>
                      </a:pPr>
                      <a:r>
                        <a:rPr lang="es-MX" sz="2400">
                          <a:effectLst/>
                          <a:latin typeface="Gotham" pitchFamily="50" charset="0"/>
                          <a:ea typeface="Calibri" panose="020F0502020204030204" pitchFamily="34" charset="0"/>
                          <a:cs typeface="Times New Roman" panose="02020603050405020304" pitchFamily="18" charset="0"/>
                        </a:rPr>
                        <a:t>d)</a:t>
                      </a:r>
                      <a:endParaRPr lang="es-MX" sz="4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tabLst>
                          <a:tab pos="180340" algn="l"/>
                        </a:tabLst>
                      </a:pPr>
                      <a:r>
                        <a:rPr lang="es-MX" sz="2400" dirty="0">
                          <a:effectLst/>
                          <a:latin typeface="Gotham" pitchFamily="50" charset="0"/>
                          <a:ea typeface="Calibri" panose="020F0502020204030204" pitchFamily="34" charset="0"/>
                          <a:cs typeface="Times New Roman" panose="02020603050405020304" pitchFamily="18" charset="0"/>
                        </a:rPr>
                        <a:t>Carta de Intención de Participación. </a:t>
                      </a:r>
                      <a:r>
                        <a:rPr lang="es-MX" sz="2400" dirty="0">
                          <a:solidFill>
                            <a:schemeClr val="accent1">
                              <a:lumMod val="75000"/>
                            </a:schemeClr>
                          </a:solidFill>
                          <a:effectLst/>
                          <a:latin typeface="Gotham" pitchFamily="50" charset="0"/>
                          <a:ea typeface="Calibri" panose="020F0502020204030204" pitchFamily="34" charset="0"/>
                          <a:cs typeface="Times New Roman" panose="02020603050405020304" pitchFamily="18" charset="0"/>
                        </a:rPr>
                        <a:t>(descargar doc.)</a:t>
                      </a:r>
                      <a:endParaRPr lang="es-MX" sz="4000" dirty="0">
                        <a:solidFill>
                          <a:schemeClr val="accent1">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2400">
                          <a:effectLst/>
                          <a:latin typeface="Gotham" pitchFamily="50" charset="0"/>
                          <a:ea typeface="Calibri" panose="020F0502020204030204" pitchFamily="34" charset="0"/>
                          <a:cs typeface="Times New Roman" panose="02020603050405020304" pitchFamily="18" charset="0"/>
                        </a:rPr>
                        <a:t> </a:t>
                      </a:r>
                      <a:endParaRPr lang="es-MX" sz="4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2400">
                          <a:solidFill>
                            <a:srgbClr val="FF0000"/>
                          </a:solidFill>
                          <a:effectLst/>
                          <a:latin typeface="Gotham" pitchFamily="50" charset="0"/>
                          <a:ea typeface="Calibri" panose="020F0502020204030204" pitchFamily="34" charset="0"/>
                          <a:cs typeface="Times New Roman" panose="02020603050405020304" pitchFamily="18" charset="0"/>
                        </a:rPr>
                        <a:t> </a:t>
                      </a:r>
                      <a:endParaRPr lang="es-MX" sz="400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90986310"/>
                  </a:ext>
                </a:extLst>
              </a:tr>
              <a:tr h="144059">
                <a:tc>
                  <a:txBody>
                    <a:bodyPr/>
                    <a:lstStyle/>
                    <a:p>
                      <a:pPr algn="ctr">
                        <a:buNone/>
                      </a:pPr>
                      <a:r>
                        <a:rPr lang="es-MX" sz="2400" dirty="0">
                          <a:effectLst/>
                          <a:latin typeface="Gotham" pitchFamily="50" charset="0"/>
                          <a:ea typeface="Calibri" panose="020F0502020204030204" pitchFamily="34" charset="0"/>
                          <a:cs typeface="Times New Roman" panose="02020603050405020304" pitchFamily="18" charset="0"/>
                        </a:rPr>
                        <a:t>e)</a:t>
                      </a:r>
                      <a:endParaRPr lang="es-MX" sz="4000" dirty="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buNone/>
                        <a:tabLst>
                          <a:tab pos="180340" algn="l"/>
                        </a:tabLst>
                      </a:pPr>
                      <a:r>
                        <a:rPr lang="es-MX" sz="2400" dirty="0">
                          <a:effectLst/>
                          <a:latin typeface="Gotham" pitchFamily="50" charset="0"/>
                          <a:ea typeface="Calibri" panose="020F0502020204030204" pitchFamily="34" charset="0"/>
                          <a:cs typeface="Times New Roman" panose="02020603050405020304" pitchFamily="18" charset="0"/>
                        </a:rPr>
                        <a:t>Escrito bajo protesta de decir verdad. </a:t>
                      </a:r>
                      <a:r>
                        <a:rPr lang="es-MX" sz="2400" dirty="0">
                          <a:solidFill>
                            <a:schemeClr val="accent1">
                              <a:lumMod val="75000"/>
                            </a:schemeClr>
                          </a:solidFill>
                          <a:effectLst/>
                          <a:latin typeface="Gotham" pitchFamily="50" charset="0"/>
                          <a:ea typeface="Calibri" panose="020F0502020204030204" pitchFamily="34" charset="0"/>
                          <a:cs typeface="Times New Roman" panose="02020603050405020304" pitchFamily="18" charset="0"/>
                        </a:rPr>
                        <a:t>(descargar doc.)</a:t>
                      </a:r>
                      <a:endParaRPr lang="es-MX" sz="4000" dirty="0">
                        <a:solidFill>
                          <a:schemeClr val="accent1">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2400" dirty="0">
                          <a:effectLst/>
                          <a:latin typeface="Gotham" pitchFamily="50" charset="0"/>
                          <a:ea typeface="Calibri" panose="020F0502020204030204" pitchFamily="34" charset="0"/>
                          <a:cs typeface="Times New Roman" panose="02020603050405020304" pitchFamily="18" charset="0"/>
                        </a:rPr>
                        <a:t> </a:t>
                      </a:r>
                      <a:endParaRPr lang="es-MX" sz="4000" dirty="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s-ES_tradnl" sz="2400" dirty="0">
                          <a:solidFill>
                            <a:srgbClr val="FF0000"/>
                          </a:solidFill>
                          <a:effectLst/>
                          <a:latin typeface="Gotham" pitchFamily="50" charset="0"/>
                          <a:ea typeface="Calibri" panose="020F0502020204030204" pitchFamily="34" charset="0"/>
                          <a:cs typeface="Times New Roman" panose="02020603050405020304" pitchFamily="18" charset="0"/>
                        </a:rPr>
                        <a:t> </a:t>
                      </a:r>
                      <a:endParaRPr lang="es-MX" sz="4000" dirty="0">
                        <a:effectLst/>
                        <a:latin typeface="Calibri" panose="020F0502020204030204" pitchFamily="34" charset="0"/>
                        <a:ea typeface="Calibri" panose="020F0502020204030204" pitchFamily="34" charset="0"/>
                        <a:cs typeface="Times New Roman" panose="02020603050405020304" pitchFamily="18" charset="0"/>
                      </a:endParaRPr>
                    </a:p>
                  </a:txBody>
                  <a:tcPr marL="68539" marR="68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14599215"/>
                  </a:ext>
                </a:extLst>
              </a:tr>
            </a:tbl>
          </a:graphicData>
        </a:graphic>
      </p:graphicFrame>
      <p:sp>
        <p:nvSpPr>
          <p:cNvPr id="5" name="Título 1">
            <a:extLst>
              <a:ext uri="{FF2B5EF4-FFF2-40B4-BE49-F238E27FC236}">
                <a16:creationId xmlns:a16="http://schemas.microsoft.com/office/drawing/2014/main" id="{88395347-8F3D-AC76-F496-EE376FF6D21C}"/>
              </a:ext>
            </a:extLst>
          </p:cNvPr>
          <p:cNvSpPr txBox="1">
            <a:spLocks/>
          </p:cNvSpPr>
          <p:nvPr/>
        </p:nvSpPr>
        <p:spPr>
          <a:xfrm>
            <a:off x="573108" y="6087170"/>
            <a:ext cx="5261021" cy="493935"/>
          </a:xfrm>
          <a:prstGeom prst="rect">
            <a:avLst/>
          </a:prstGeom>
          <a:ln>
            <a:noFill/>
          </a:ln>
        </p:spPr>
        <p:style>
          <a:lnRef idx="2">
            <a:schemeClr val="accent2"/>
          </a:lnRef>
          <a:fillRef idx="1">
            <a:schemeClr val="lt1"/>
          </a:fillRef>
          <a:effectRef idx="0">
            <a:schemeClr val="accent2"/>
          </a:effectRef>
          <a:fontRef idx="minor">
            <a:schemeClr val="dk1"/>
          </a:fontRef>
        </p:style>
        <p:txBody>
          <a:bodyP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400" b="1" dirty="0">
                <a:latin typeface="Gotham" pitchFamily="50" charset="0"/>
                <a:cs typeface="Gotham" pitchFamily="50" charset="0"/>
              </a:rPr>
              <a:t>Documentos compartidos vía correo electrónico, pendiente de aprobación, pueden modificarse el archivo.</a:t>
            </a:r>
            <a:endParaRPr lang="es-MX" sz="2400" dirty="0">
              <a:latin typeface="Gotham" pitchFamily="50" charset="0"/>
              <a:cs typeface="Gotham" pitchFamily="50" charset="0"/>
            </a:endParaRPr>
          </a:p>
        </p:txBody>
      </p:sp>
    </p:spTree>
    <p:extLst>
      <p:ext uri="{BB962C8B-B14F-4D97-AF65-F5344CB8AC3E}">
        <p14:creationId xmlns:p14="http://schemas.microsoft.com/office/powerpoint/2010/main" val="12610714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7F913A-8B4C-F8A9-D18C-AF6736C913F3}"/>
              </a:ext>
            </a:extLst>
          </p:cNvPr>
          <p:cNvSpPr txBox="1">
            <a:spLocks/>
          </p:cNvSpPr>
          <p:nvPr/>
        </p:nvSpPr>
        <p:spPr>
          <a:xfrm>
            <a:off x="3567449" y="1371600"/>
            <a:ext cx="4327300" cy="85644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4000" b="1" dirty="0">
                <a:latin typeface="Gotham" pitchFamily="50" charset="0"/>
                <a:cs typeface="Gotham" pitchFamily="50" charset="0"/>
              </a:rPr>
              <a:t>Fin del Registro</a:t>
            </a:r>
          </a:p>
        </p:txBody>
      </p:sp>
      <p:sp>
        <p:nvSpPr>
          <p:cNvPr id="3" name="Título 1">
            <a:extLst>
              <a:ext uri="{FF2B5EF4-FFF2-40B4-BE49-F238E27FC236}">
                <a16:creationId xmlns:a16="http://schemas.microsoft.com/office/drawing/2014/main" id="{B5C384B6-7028-4CD5-5089-00159488DC8A}"/>
              </a:ext>
            </a:extLst>
          </p:cNvPr>
          <p:cNvSpPr txBox="1">
            <a:spLocks/>
          </p:cNvSpPr>
          <p:nvPr/>
        </p:nvSpPr>
        <p:spPr>
          <a:xfrm>
            <a:off x="913326" y="4269832"/>
            <a:ext cx="10832207" cy="1216568"/>
          </a:xfrm>
          <a:prstGeom prst="rect">
            <a:avLst/>
          </a:prstGeom>
          <a:effectLst>
            <a:outerShdw blurRad="50800" dist="38100" dir="18900000" algn="b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400" b="1" dirty="0">
                <a:latin typeface="Gotham" pitchFamily="50" charset="0"/>
                <a:cs typeface="Gotham" pitchFamily="50" charset="0"/>
              </a:rPr>
              <a:t>Nota: </a:t>
            </a:r>
            <a:r>
              <a:rPr lang="es-MX" sz="2400" dirty="0">
                <a:latin typeface="Gotham" pitchFamily="50" charset="0"/>
                <a:cs typeface="Gotham" pitchFamily="50" charset="0"/>
              </a:rPr>
              <a:t>Se le proporcionara un folio a la Persona Solicitante, cuando el Responsable del Programa haya terminado de revisar los documentos en el sistema y se determine el cumplimiento de acuerdo a las Reglas de Operación y Programa </a:t>
            </a:r>
          </a:p>
        </p:txBody>
      </p:sp>
    </p:spTree>
    <p:extLst>
      <p:ext uri="{BB962C8B-B14F-4D97-AF65-F5344CB8AC3E}">
        <p14:creationId xmlns:p14="http://schemas.microsoft.com/office/powerpoint/2010/main" val="332038616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135</TotalTime>
  <Words>1686</Words>
  <Application>Microsoft Office PowerPoint</Application>
  <PresentationFormat>Panorámica</PresentationFormat>
  <Paragraphs>270</Paragraphs>
  <Slides>13</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13</vt:i4>
      </vt:variant>
    </vt:vector>
  </HeadingPairs>
  <TitlesOfParts>
    <vt:vector size="18" baseType="lpstr">
      <vt:lpstr>Arial</vt:lpstr>
      <vt:lpstr>Calibri</vt:lpstr>
      <vt:lpstr>Calibri Light</vt:lpstr>
      <vt:lpstr>Gotham</vt:lpstr>
      <vt:lpstr>Tema de Office</vt:lpstr>
      <vt:lpstr>PROGRAMA INCORPORACIÓN DE PROFESIONISTAS PARA EL FORTALECIMIENTO EMPRESARIAL COMECYT CONVOCATORIA 2026</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USUARIO</dc:creator>
  <cp:lastModifiedBy>USUARIO</cp:lastModifiedBy>
  <cp:revision>8</cp:revision>
  <dcterms:created xsi:type="dcterms:W3CDTF">2026-03-26T17:06:44Z</dcterms:created>
  <dcterms:modified xsi:type="dcterms:W3CDTF">2026-03-26T19:22:29Z</dcterms:modified>
</cp:coreProperties>
</file>